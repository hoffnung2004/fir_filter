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2" r:id="rId5"/>
    <p:sldId id="261" r:id="rId6"/>
    <p:sldId id="258" r:id="rId7"/>
    <p:sldId id="260" r:id="rId8"/>
    <p:sldId id="269" r:id="rId9"/>
    <p:sldId id="270" r:id="rId10"/>
    <p:sldId id="271" r:id="rId11"/>
    <p:sldId id="272" r:id="rId12"/>
    <p:sldId id="273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E210E-E36F-4ED9-BB13-1DE347C80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5DF1E0-3F05-4445-8395-F5D3D7891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68F7CC-D7EE-4654-B609-1C108270D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5C58-8AA3-4DCC-819F-1A63A7FDDC4B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13806B-F2CD-40D3-8E07-51B56B7C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BDDC38-DE25-4FDF-A6B8-7B211040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698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89026-216A-490E-8C62-D264B2A20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AEDB73-B487-408B-A4E4-BD120C6CA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88FB4B-BBB9-4F53-9313-78338CE9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5C58-8AA3-4DCC-819F-1A63A7FDDC4B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58B3CB-23D5-4BB2-A294-EB5A6E78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31971B-9AF3-4065-B7D2-B266C90D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896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A1817-FC41-4C54-B187-F9999A40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E403C8-78C1-4EF2-86F7-564CDCE5A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C396C2-6327-4C7D-AF5B-D841EC392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5C58-8AA3-4DCC-819F-1A63A7FDDC4B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790DC7-53C8-44FC-96BE-6FE8E5A2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A83F86-762C-416F-9ACC-93F288DA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39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55652-5604-47D9-AB96-7137F55A4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86F4D0-E267-4FC6-A89C-D66CA6193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592C34-2970-4577-8316-3F6E8539F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1873B8-3FDA-43A5-94B0-9342E9AFF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5C58-8AA3-4DCC-819F-1A63A7FDDC4B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1871B6-8C86-47AB-A792-45BA2AAC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52E863-3248-452C-8944-D3DFA52D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743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77707A-6E79-4F3B-9FF4-884E07D5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32A4F3-6C84-4334-B06F-1909E592A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65359D-617C-411B-920A-C8CDB9924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3C9141-8621-4086-A43E-9DE019DCB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2CD4B5D-E59B-4719-AAEB-9F97023EB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8E4EC5-150C-4F20-AF67-24A3BC263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5C58-8AA3-4DCC-819F-1A63A7FDDC4B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34E330A-295A-42CD-8EA8-97032FC2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12151DC-2DDB-4536-98FE-8E510575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12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BE68B-1481-48E5-AE5D-11A115DB6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2B73A4-C1D5-4588-9835-9C0A194E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5C58-8AA3-4DCC-819F-1A63A7FDDC4B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5A2E3B-CFA0-405C-9457-218D6E10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8A2788-DFE1-44DC-8370-37EB4A5E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65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86F9D9-5F8A-4B63-BBFD-7E4E62F5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5C58-8AA3-4DCC-819F-1A63A7FDDC4B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7453757-EF97-49FD-9BDC-F0240931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05C6F6-ED97-4FCE-A8B5-71FC3E8E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229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48C5F-ADEF-4D26-8618-D808F9EA1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59A3CC-2366-4579-8558-49E3895E1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B12524-F8B6-4E58-A735-8C6B9598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52D54A-DE43-4A2C-8C33-2BC4ABF9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5C58-8AA3-4DCC-819F-1A63A7FDDC4B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61691F-4000-49EE-9CBD-0A6C5CF8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2DB216-575B-46D9-A918-8110E285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28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A396C-5AF8-4C36-BB69-81E226B1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2C1A2C-BDC0-450E-8364-411BE9FDA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E3AFDC-A766-4FA6-B280-B83B001FD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31E945-613A-4143-A818-A156212FD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5C58-8AA3-4DCC-819F-1A63A7FDDC4B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1D5FDE-9469-4301-B05F-90E5EB5E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D0C240-7DBB-4104-944B-998476DE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463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BF2BC8-97F7-4DE3-9558-1385B47C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22C5682-4EE5-48E3-AB5F-40D745A5E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E25D9A-39F8-4298-9699-D32CE634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5C58-8AA3-4DCC-819F-1A63A7FDDC4B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F74AF2-FA6A-4678-B1B1-7C9546F6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613EA2-9264-49C0-A2AA-E9E319AB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11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B686840-541A-40FB-81BE-E6164E193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0723DD-161B-4C1C-8E9F-00EB061D9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F6598-C1EB-4204-946F-B84FA17B4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5C58-8AA3-4DCC-819F-1A63A7FDDC4B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A869D6-027C-42CB-BC45-EBD7E0B3F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107EE9-2B32-4E4D-9837-193276C1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6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A4265-BFE0-43AC-B00E-21889885F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B3BA7F-B072-46AD-A483-EE1723C5B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10EA8D-59D2-4828-B018-2C26EF2EE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55C58-8AA3-4DCC-819F-1A63A7FDDC4B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9B5AB8-E2AC-4776-86DF-F4D8D9560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B15F86-9DD5-40F7-A922-050D21A3E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38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5BE84-4784-459F-9773-40F1098A82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Созвон</a:t>
            </a:r>
            <a:r>
              <a:rPr lang="ru-RU" dirty="0"/>
              <a:t> 1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0DA386E-F8F3-4AFD-B1E8-DB3339E28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1686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797EB-1EB5-447C-AEDF-96AB8B4D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Формирование КИХ-фильтра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927CAC-CB16-4F70-B209-A81763F89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0" i="0" dirty="0">
                <a:effectLst/>
                <a:latin typeface="Menlo"/>
              </a:rPr>
              <a:t>N = 31</a:t>
            </a:r>
          </a:p>
          <a:p>
            <a:pPr marL="0" indent="0">
              <a:buNone/>
            </a:pPr>
            <a:r>
              <a:rPr lang="en-US" sz="2800" b="0" i="0" dirty="0">
                <a:effectLst/>
                <a:latin typeface="Menlo"/>
              </a:rPr>
              <a:t>Fs =</a:t>
            </a:r>
            <a:r>
              <a:rPr lang="ru-RU" sz="2800" b="0" i="0" dirty="0">
                <a:effectLst/>
                <a:latin typeface="Menlo"/>
              </a:rPr>
              <a:t> 20 МГц</a:t>
            </a:r>
            <a:endParaRPr lang="en-US" sz="2800" b="0" i="0" dirty="0">
              <a:effectLst/>
              <a:latin typeface="Menlo"/>
            </a:endParaRPr>
          </a:p>
          <a:p>
            <a:pPr marL="0" indent="0">
              <a:buNone/>
            </a:pPr>
            <a:r>
              <a:rPr lang="en-US" sz="2800" dirty="0" err="1">
                <a:latin typeface="Menlo"/>
              </a:rPr>
              <a:t>Fpass</a:t>
            </a:r>
            <a:r>
              <a:rPr lang="en-US" sz="2800" dirty="0">
                <a:latin typeface="Menlo"/>
              </a:rPr>
              <a:t> = 2 </a:t>
            </a:r>
            <a:r>
              <a:rPr lang="ru-RU" sz="2800" dirty="0">
                <a:latin typeface="Menlo"/>
              </a:rPr>
              <a:t>МГц</a:t>
            </a:r>
          </a:p>
          <a:p>
            <a:pPr marL="0" indent="0">
              <a:buNone/>
            </a:pPr>
            <a:r>
              <a:rPr lang="en-US" sz="2800" b="0" i="0" dirty="0" err="1">
                <a:effectLst/>
                <a:latin typeface="Menlo"/>
              </a:rPr>
              <a:t>Fs</a:t>
            </a:r>
            <a:r>
              <a:rPr lang="en-US" sz="2800" dirty="0" err="1">
                <a:latin typeface="Menlo"/>
              </a:rPr>
              <a:t>top</a:t>
            </a:r>
            <a:r>
              <a:rPr lang="en-US" sz="2800" dirty="0">
                <a:latin typeface="Menlo"/>
              </a:rPr>
              <a:t> = 4 </a:t>
            </a:r>
            <a:r>
              <a:rPr lang="ru-RU" sz="2800" dirty="0">
                <a:latin typeface="Menlo"/>
              </a:rPr>
              <a:t>МГц</a:t>
            </a:r>
          </a:p>
          <a:p>
            <a:pPr marL="0" indent="0">
              <a:buNone/>
            </a:pPr>
            <a:endParaRPr lang="ru-RU" b="0" i="0" dirty="0">
              <a:effectLst/>
              <a:latin typeface="Menlo"/>
            </a:endParaRPr>
          </a:p>
          <a:p>
            <a:pPr marL="0" indent="0">
              <a:buNone/>
            </a:pPr>
            <a:r>
              <a:rPr lang="en-US" sz="2800" b="0" i="0" dirty="0">
                <a:effectLst/>
                <a:latin typeface="Menlo"/>
              </a:rPr>
              <a:t>taps = </a:t>
            </a:r>
            <a:r>
              <a:rPr lang="en-US" sz="2800" b="0" i="0" dirty="0" err="1">
                <a:effectLst/>
                <a:latin typeface="Menlo"/>
              </a:rPr>
              <a:t>firpm</a:t>
            </a:r>
            <a:r>
              <a:rPr lang="en-US" sz="2800" b="0" i="0" dirty="0">
                <a:effectLst/>
                <a:latin typeface="Menlo"/>
              </a:rPr>
              <a:t>(</a:t>
            </a:r>
            <a:r>
              <a:rPr lang="ru-RU" sz="2800" b="0" i="0" dirty="0">
                <a:effectLst/>
                <a:latin typeface="Menlo"/>
              </a:rPr>
              <a:t>31</a:t>
            </a:r>
            <a:r>
              <a:rPr lang="en-US" sz="2800" b="0" i="0" dirty="0">
                <a:effectLst/>
                <a:latin typeface="Menlo"/>
              </a:rPr>
              <a:t>, [0 </a:t>
            </a:r>
            <a:r>
              <a:rPr lang="en-US" sz="2800" b="0" i="0" dirty="0" err="1">
                <a:effectLst/>
                <a:latin typeface="Menlo"/>
              </a:rPr>
              <a:t>fp</a:t>
            </a:r>
            <a:r>
              <a:rPr lang="en-US" sz="2800" b="0" i="0" dirty="0">
                <a:effectLst/>
                <a:latin typeface="Menlo"/>
              </a:rPr>
              <a:t> fs Fs/2]/(Fs/2), [1 1 0 0], [1 1]);</a:t>
            </a:r>
            <a:endParaRPr lang="ru-RU" sz="2800" b="0" i="0" dirty="0">
              <a:effectLst/>
              <a:latin typeface="Menlo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4276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3C17BF7-923D-4837-8A8E-BF17D1F83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390" y="1724221"/>
            <a:ext cx="5797858" cy="418608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ADD54-7444-4517-AE97-33551BBB7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Формирование КИХ-фильтра</a:t>
            </a:r>
            <a:r>
              <a:rPr lang="en-US" dirty="0"/>
              <a:t> (S16.14)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4A1EDE3-D387-4EBF-AF49-F09F5B53DEB7}"/>
              </a:ext>
            </a:extLst>
          </p:cNvPr>
          <p:cNvSpPr txBox="1">
            <a:spLocks/>
          </p:cNvSpPr>
          <p:nvPr/>
        </p:nvSpPr>
        <p:spPr>
          <a:xfrm>
            <a:off x="7995820" y="253075"/>
            <a:ext cx="1858392" cy="1549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i="0" dirty="0">
              <a:effectLst/>
              <a:latin typeface="Menlo"/>
            </a:endParaRPr>
          </a:p>
          <a:p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1A7EB81-F44E-4E44-B9E6-A6DC81E9A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32" y="1724221"/>
            <a:ext cx="5797858" cy="418608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0D54B53-29A1-46FB-B463-9D17C8E8B701}"/>
              </a:ext>
            </a:extLst>
          </p:cNvPr>
          <p:cNvSpPr txBox="1"/>
          <p:nvPr/>
        </p:nvSpPr>
        <p:spPr>
          <a:xfrm>
            <a:off x="1129683" y="6016386"/>
            <a:ext cx="10668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Результат замера: </a:t>
            </a:r>
            <a:r>
              <a:rPr lang="en-US" dirty="0" err="1"/>
              <a:t>e</a:t>
            </a:r>
            <a:r>
              <a:rPr lang="en-US" baseline="-25000" dirty="0" err="1"/>
              <a:t>RMS</a:t>
            </a:r>
            <a:r>
              <a:rPr lang="en-US" dirty="0"/>
              <a:t> = 3.8373</a:t>
            </a:r>
            <a:r>
              <a:rPr lang="en-US" dirty="0">
                <a:sym typeface="Symbol" panose="05050102010706020507" pitchFamily="18" charset="2"/>
              </a:rPr>
              <a:t>10</a:t>
            </a:r>
            <a:r>
              <a:rPr lang="en-US" baseline="30000" dirty="0">
                <a:sym typeface="Symbol" panose="05050102010706020507" pitchFamily="18" charset="2"/>
              </a:rPr>
              <a:t>-6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 		</a:t>
            </a:r>
            <a:r>
              <a:rPr lang="ru-RU" dirty="0">
                <a:sym typeface="Symbol" panose="05050102010706020507" pitchFamily="18" charset="2"/>
              </a:rPr>
              <a:t>	   </a:t>
            </a:r>
            <a:r>
              <a:rPr lang="en-US" dirty="0">
                <a:sym typeface="Symbol" panose="05050102010706020507" pitchFamily="18" charset="2"/>
              </a:rPr>
              <a:t>  </a:t>
            </a:r>
            <a:r>
              <a:rPr lang="ru-RU" dirty="0">
                <a:sym typeface="Symbol" panose="05050102010706020507" pitchFamily="18" charset="2"/>
              </a:rPr>
              <a:t>Теоретическое: </a:t>
            </a:r>
            <a:r>
              <a:rPr lang="en-US" dirty="0" err="1"/>
              <a:t>e</a:t>
            </a:r>
            <a:r>
              <a:rPr lang="en-US" baseline="-25000" dirty="0" err="1"/>
              <a:t>RMS</a:t>
            </a:r>
            <a:r>
              <a:rPr lang="en-US" dirty="0"/>
              <a:t> = 1.761</a:t>
            </a:r>
            <a:r>
              <a:rPr lang="en-US" dirty="0">
                <a:sym typeface="Symbol" panose="05050102010706020507" pitchFamily="18" charset="2"/>
              </a:rPr>
              <a:t>10</a:t>
            </a:r>
            <a:r>
              <a:rPr lang="en-US" baseline="30000" dirty="0">
                <a:sym typeface="Symbol" panose="05050102010706020507" pitchFamily="18" charset="2"/>
              </a:rPr>
              <a:t>-5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8879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77C0C0-DF52-4F46-A68B-4B54845E5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498" y="1724221"/>
            <a:ext cx="5797858" cy="418608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ADD54-7444-4517-AE97-33551BBB7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22367" cy="1325563"/>
          </a:xfrm>
        </p:spPr>
        <p:txBody>
          <a:bodyPr/>
          <a:lstStyle/>
          <a:p>
            <a:r>
              <a:rPr lang="ru-RU" dirty="0"/>
              <a:t>Формирование КИХ-фильтра </a:t>
            </a:r>
            <a:r>
              <a:rPr lang="en-US" dirty="0"/>
              <a:t>(S16.16)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4A1EDE3-D387-4EBF-AF49-F09F5B53DEB7}"/>
              </a:ext>
            </a:extLst>
          </p:cNvPr>
          <p:cNvSpPr txBox="1">
            <a:spLocks/>
          </p:cNvSpPr>
          <p:nvPr/>
        </p:nvSpPr>
        <p:spPr>
          <a:xfrm>
            <a:off x="7995820" y="253075"/>
            <a:ext cx="1858392" cy="1549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i="0" dirty="0">
              <a:effectLst/>
              <a:latin typeface="Menlo"/>
            </a:endParaRPr>
          </a:p>
          <a:p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1A7EB81-F44E-4E44-B9E6-A6DC81E9A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32" y="1724221"/>
            <a:ext cx="5797858" cy="418608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0D54B53-29A1-46FB-B463-9D17C8E8B701}"/>
              </a:ext>
            </a:extLst>
          </p:cNvPr>
          <p:cNvSpPr txBox="1"/>
          <p:nvPr/>
        </p:nvSpPr>
        <p:spPr>
          <a:xfrm>
            <a:off x="1129683" y="6016386"/>
            <a:ext cx="10668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Результат замера: </a:t>
            </a:r>
            <a:r>
              <a:rPr lang="en-US" dirty="0" err="1"/>
              <a:t>e</a:t>
            </a:r>
            <a:r>
              <a:rPr lang="en-US" baseline="-25000" dirty="0" err="1"/>
              <a:t>RMS</a:t>
            </a:r>
            <a:r>
              <a:rPr lang="en-US" dirty="0"/>
              <a:t> = </a:t>
            </a:r>
            <a:r>
              <a:rPr lang="ru-RU" dirty="0"/>
              <a:t>9</a:t>
            </a:r>
            <a:r>
              <a:rPr lang="en-US" dirty="0"/>
              <a:t>.</a:t>
            </a:r>
            <a:r>
              <a:rPr lang="ru-RU" dirty="0"/>
              <a:t>2469</a:t>
            </a:r>
            <a:r>
              <a:rPr lang="en-US" dirty="0">
                <a:sym typeface="Symbol" panose="05050102010706020507" pitchFamily="18" charset="2"/>
              </a:rPr>
              <a:t>10</a:t>
            </a:r>
            <a:r>
              <a:rPr lang="en-US" baseline="30000" dirty="0">
                <a:sym typeface="Symbol" panose="05050102010706020507" pitchFamily="18" charset="2"/>
              </a:rPr>
              <a:t>-</a:t>
            </a:r>
            <a:r>
              <a:rPr lang="ru-RU" baseline="30000" dirty="0">
                <a:sym typeface="Symbol" panose="05050102010706020507" pitchFamily="18" charset="2"/>
              </a:rPr>
              <a:t>7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 		</a:t>
            </a:r>
            <a:r>
              <a:rPr lang="ru-RU" dirty="0">
                <a:sym typeface="Symbol" panose="05050102010706020507" pitchFamily="18" charset="2"/>
              </a:rPr>
              <a:t>	   </a:t>
            </a:r>
            <a:r>
              <a:rPr lang="en-US" dirty="0">
                <a:sym typeface="Symbol" panose="05050102010706020507" pitchFamily="18" charset="2"/>
              </a:rPr>
              <a:t>  </a:t>
            </a:r>
            <a:r>
              <a:rPr lang="ru-RU" dirty="0">
                <a:sym typeface="Symbol" panose="05050102010706020507" pitchFamily="18" charset="2"/>
              </a:rPr>
              <a:t>Теоретическое: </a:t>
            </a:r>
            <a:r>
              <a:rPr lang="en-US" dirty="0" err="1"/>
              <a:t>e</a:t>
            </a:r>
            <a:r>
              <a:rPr lang="en-US" baseline="-25000" dirty="0" err="1"/>
              <a:t>RMS</a:t>
            </a:r>
            <a:r>
              <a:rPr lang="en-US" dirty="0"/>
              <a:t> = </a:t>
            </a:r>
            <a:r>
              <a:rPr lang="ru-RU" dirty="0"/>
              <a:t>4</a:t>
            </a:r>
            <a:r>
              <a:rPr lang="en-US" dirty="0"/>
              <a:t>.</a:t>
            </a:r>
            <a:r>
              <a:rPr lang="ru-RU" dirty="0"/>
              <a:t>4404</a:t>
            </a:r>
            <a:r>
              <a:rPr lang="en-US" dirty="0">
                <a:sym typeface="Symbol" panose="05050102010706020507" pitchFamily="18" charset="2"/>
              </a:rPr>
              <a:t>10</a:t>
            </a:r>
            <a:r>
              <a:rPr lang="en-US" baseline="30000" dirty="0">
                <a:sym typeface="Symbol" panose="05050102010706020507" pitchFamily="18" charset="2"/>
              </a:rPr>
              <a:t>-</a:t>
            </a:r>
            <a:r>
              <a:rPr lang="ru-RU" baseline="30000" dirty="0">
                <a:sym typeface="Symbol" panose="05050102010706020507" pitchFamily="18" charset="2"/>
              </a:rPr>
              <a:t>6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89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10E8C-018A-47FE-9EF8-2E96AB09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Двоичное представление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A416400-1D0E-4CC8-81E6-86F85F9033E6}"/>
              </a:ext>
            </a:extLst>
          </p:cNvPr>
          <p:cNvSpPr txBox="1">
            <a:spLocks/>
          </p:cNvSpPr>
          <p:nvPr/>
        </p:nvSpPr>
        <p:spPr>
          <a:xfrm>
            <a:off x="3509455" y="1411550"/>
            <a:ext cx="2277862" cy="5081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00.</a:t>
            </a:r>
            <a:r>
              <a:rPr lang="ru-RU" dirty="0">
                <a:solidFill>
                  <a:schemeClr val="accent1"/>
                </a:solidFill>
              </a:rPr>
              <a:t>00000000011010</a:t>
            </a:r>
          </a:p>
          <a:p>
            <a:pPr marL="0" indent="0">
              <a:buNone/>
            </a:pPr>
            <a:r>
              <a:rPr lang="ru-RU" dirty="0"/>
              <a:t>00.</a:t>
            </a:r>
            <a:r>
              <a:rPr lang="ru-RU" dirty="0">
                <a:solidFill>
                  <a:schemeClr val="accent1"/>
                </a:solidFill>
              </a:rPr>
              <a:t>00000000101000</a:t>
            </a:r>
          </a:p>
          <a:p>
            <a:pPr marL="0" indent="0">
              <a:buNone/>
            </a:pPr>
            <a:r>
              <a:rPr lang="ru-RU" dirty="0"/>
              <a:t>00.</a:t>
            </a:r>
            <a:r>
              <a:rPr lang="ru-RU" dirty="0">
                <a:solidFill>
                  <a:schemeClr val="accent1"/>
                </a:solidFill>
              </a:rPr>
              <a:t>00000000001000</a:t>
            </a:r>
          </a:p>
          <a:p>
            <a:pPr marL="0" indent="0">
              <a:buNone/>
            </a:pPr>
            <a:r>
              <a:rPr lang="ru-RU" dirty="0"/>
              <a:t>11.</a:t>
            </a:r>
            <a:r>
              <a:rPr lang="ru-RU" dirty="0">
                <a:solidFill>
                  <a:schemeClr val="accent1"/>
                </a:solidFill>
              </a:rPr>
              <a:t>11111110111011</a:t>
            </a:r>
          </a:p>
          <a:p>
            <a:pPr marL="0" indent="0">
              <a:buNone/>
            </a:pPr>
            <a:r>
              <a:rPr lang="ru-RU" dirty="0"/>
              <a:t>11.</a:t>
            </a:r>
            <a:r>
              <a:rPr lang="ru-RU" dirty="0">
                <a:solidFill>
                  <a:schemeClr val="accent1"/>
                </a:solidFill>
              </a:rPr>
              <a:t>11111101111000</a:t>
            </a:r>
          </a:p>
          <a:p>
            <a:pPr marL="0" indent="0">
              <a:buNone/>
            </a:pPr>
            <a:r>
              <a:rPr lang="ru-RU" dirty="0"/>
              <a:t>11.</a:t>
            </a:r>
            <a:r>
              <a:rPr lang="ru-RU" dirty="0">
                <a:solidFill>
                  <a:schemeClr val="accent1"/>
                </a:solidFill>
              </a:rPr>
              <a:t>11111110101110</a:t>
            </a:r>
          </a:p>
          <a:p>
            <a:pPr marL="0" indent="0">
              <a:buNone/>
            </a:pPr>
            <a:r>
              <a:rPr lang="ru-RU" dirty="0"/>
              <a:t>00.</a:t>
            </a:r>
            <a:r>
              <a:rPr lang="ru-RU" dirty="0">
                <a:solidFill>
                  <a:schemeClr val="accent1"/>
                </a:solidFill>
              </a:rPr>
              <a:t>00000001110011</a:t>
            </a:r>
          </a:p>
          <a:p>
            <a:pPr marL="0" indent="0">
              <a:buNone/>
            </a:pPr>
            <a:r>
              <a:rPr lang="ru-RU" dirty="0"/>
              <a:t>00.</a:t>
            </a:r>
            <a:r>
              <a:rPr lang="ru-RU" dirty="0">
                <a:solidFill>
                  <a:schemeClr val="accent1"/>
                </a:solidFill>
              </a:rPr>
              <a:t>00000101001000</a:t>
            </a:r>
          </a:p>
          <a:p>
            <a:pPr marL="0" indent="0">
              <a:buNone/>
            </a:pPr>
            <a:r>
              <a:rPr lang="ru-RU" dirty="0"/>
              <a:t>00.</a:t>
            </a:r>
            <a:r>
              <a:rPr lang="ru-RU" dirty="0">
                <a:solidFill>
                  <a:schemeClr val="accent1"/>
                </a:solidFill>
              </a:rPr>
              <a:t>0000010011</a:t>
            </a:r>
            <a:r>
              <a:rPr lang="ru-RU" dirty="0"/>
              <a:t>0000</a:t>
            </a:r>
          </a:p>
          <a:p>
            <a:pPr marL="0" indent="0">
              <a:buNone/>
            </a:pPr>
            <a:r>
              <a:rPr lang="ru-RU" dirty="0"/>
              <a:t>11.</a:t>
            </a:r>
            <a:r>
              <a:rPr lang="ru-RU" dirty="0">
                <a:solidFill>
                  <a:schemeClr val="accent1"/>
                </a:solidFill>
              </a:rPr>
              <a:t>11111110100101</a:t>
            </a:r>
          </a:p>
          <a:p>
            <a:pPr marL="0" indent="0">
              <a:buNone/>
            </a:pPr>
            <a:r>
              <a:rPr lang="ru-RU" dirty="0"/>
              <a:t>11.</a:t>
            </a:r>
            <a:r>
              <a:rPr lang="ru-RU" dirty="0">
                <a:solidFill>
                  <a:schemeClr val="accent1"/>
                </a:solidFill>
              </a:rPr>
              <a:t>11110101101011</a:t>
            </a:r>
          </a:p>
          <a:p>
            <a:pPr marL="0" indent="0">
              <a:buNone/>
            </a:pPr>
            <a:r>
              <a:rPr lang="ru-RU" dirty="0"/>
              <a:t>11.</a:t>
            </a:r>
            <a:r>
              <a:rPr lang="ru-RU" dirty="0">
                <a:solidFill>
                  <a:schemeClr val="accent1"/>
                </a:solidFill>
              </a:rPr>
              <a:t>11110010010111</a:t>
            </a:r>
          </a:p>
          <a:p>
            <a:pPr marL="0" indent="0">
              <a:buNone/>
            </a:pPr>
            <a:r>
              <a:rPr lang="ru-RU" dirty="0"/>
              <a:t>11.</a:t>
            </a:r>
            <a:r>
              <a:rPr lang="ru-RU" dirty="0">
                <a:solidFill>
                  <a:schemeClr val="accent1"/>
                </a:solidFill>
              </a:rPr>
              <a:t>1111110011000</a:t>
            </a:r>
            <a:r>
              <a:rPr lang="ru-RU" dirty="0"/>
              <a:t>1</a:t>
            </a:r>
          </a:p>
          <a:p>
            <a:pPr marL="0" indent="0">
              <a:buNone/>
            </a:pPr>
            <a:r>
              <a:rPr lang="ru-RU" dirty="0"/>
              <a:t>00.</a:t>
            </a:r>
            <a:r>
              <a:rPr lang="ru-RU" dirty="0">
                <a:solidFill>
                  <a:schemeClr val="accent1"/>
                </a:solidFill>
              </a:rPr>
              <a:t>00010101111101</a:t>
            </a:r>
          </a:p>
          <a:p>
            <a:pPr marL="0" indent="0">
              <a:buNone/>
            </a:pPr>
            <a:r>
              <a:rPr lang="ru-RU" dirty="0"/>
              <a:t>00.</a:t>
            </a:r>
            <a:r>
              <a:rPr lang="ru-RU" dirty="0">
                <a:solidFill>
                  <a:schemeClr val="accent1"/>
                </a:solidFill>
              </a:rPr>
              <a:t>00110100101011</a:t>
            </a:r>
          </a:p>
          <a:p>
            <a:pPr marL="0" indent="0">
              <a:buNone/>
            </a:pPr>
            <a:r>
              <a:rPr lang="ru-RU" dirty="0"/>
              <a:t>00.</a:t>
            </a:r>
            <a:r>
              <a:rPr lang="ru-RU" dirty="0">
                <a:solidFill>
                  <a:schemeClr val="accent1"/>
                </a:solidFill>
              </a:rPr>
              <a:t>01001001110010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5500C21B-4DDA-49E9-83DC-187044715124}"/>
              </a:ext>
            </a:extLst>
          </p:cNvPr>
          <p:cNvSpPr txBox="1">
            <a:spLocks/>
          </p:cNvSpPr>
          <p:nvPr/>
        </p:nvSpPr>
        <p:spPr>
          <a:xfrm>
            <a:off x="5823753" y="1411548"/>
            <a:ext cx="2277862" cy="5081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00000000011010</a:t>
            </a:r>
            <a:r>
              <a:rPr lang="ru-RU" dirty="0"/>
              <a:t>01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00000000101000</a:t>
            </a:r>
            <a:r>
              <a:rPr lang="ru-RU" dirty="0"/>
              <a:t>01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00000000001000</a:t>
            </a:r>
            <a:r>
              <a:rPr lang="ru-RU" dirty="0"/>
              <a:t>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1111111011101</a:t>
            </a:r>
            <a:r>
              <a:rPr lang="ru-RU" dirty="0"/>
              <a:t>011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1111110111</a:t>
            </a:r>
            <a:r>
              <a:rPr lang="ru-RU" dirty="0"/>
              <a:t>011110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111111101011</a:t>
            </a:r>
            <a:r>
              <a:rPr lang="ru-RU" dirty="0"/>
              <a:t>0111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00000001110011</a:t>
            </a:r>
            <a:r>
              <a:rPr lang="ru-RU" dirty="0"/>
              <a:t>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00000101001000</a:t>
            </a:r>
            <a:r>
              <a:rPr lang="ru-RU" dirty="0"/>
              <a:t>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00000100101111</a:t>
            </a:r>
            <a:r>
              <a:rPr lang="ru-RU" dirty="0"/>
              <a:t>11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11111110100101</a:t>
            </a:r>
            <a:r>
              <a:rPr lang="ru-RU" dirty="0"/>
              <a:t>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11110101101011</a:t>
            </a:r>
            <a:r>
              <a:rPr lang="ru-RU" dirty="0"/>
              <a:t>01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11110010010111</a:t>
            </a:r>
            <a:r>
              <a:rPr lang="ru-RU" dirty="0"/>
              <a:t>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11111100110000</a:t>
            </a:r>
            <a:r>
              <a:rPr lang="ru-RU" dirty="0"/>
              <a:t>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00010101111101</a:t>
            </a:r>
            <a:r>
              <a:rPr lang="ru-RU" dirty="0"/>
              <a:t>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00110100101011</a:t>
            </a:r>
            <a:r>
              <a:rPr lang="ru-RU" dirty="0"/>
              <a:t>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.</a:t>
            </a:r>
            <a:r>
              <a:rPr lang="ru-RU" dirty="0">
                <a:solidFill>
                  <a:schemeClr val="accent1"/>
                </a:solidFill>
              </a:rPr>
              <a:t>01001001110010</a:t>
            </a:r>
            <a:r>
              <a:rPr lang="ru-RU" dirty="0"/>
              <a:t>00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433789B2-59CE-4BA1-9C68-4A0313E8F4A9}"/>
              </a:ext>
            </a:extLst>
          </p:cNvPr>
          <p:cNvSpPr txBox="1">
            <a:spLocks/>
          </p:cNvSpPr>
          <p:nvPr/>
        </p:nvSpPr>
        <p:spPr>
          <a:xfrm>
            <a:off x="960640" y="1411547"/>
            <a:ext cx="2512380" cy="5081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 0.001607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840878888</a:t>
            </a:r>
          </a:p>
          <a:p>
            <a:pPr marL="0" indent="0">
              <a:buNone/>
            </a:pPr>
            <a:r>
              <a:rPr lang="ru-RU" dirty="0"/>
              <a:t> 0.002462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874423885</a:t>
            </a:r>
          </a:p>
          <a:p>
            <a:pPr marL="0" indent="0">
              <a:buNone/>
            </a:pPr>
            <a:r>
              <a:rPr lang="ru-RU" dirty="0"/>
              <a:t> 0.000488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233918326</a:t>
            </a:r>
          </a:p>
          <a:p>
            <a:pPr marL="0" indent="0">
              <a:buNone/>
            </a:pPr>
            <a:r>
              <a:rPr lang="ru-RU" dirty="0"/>
              <a:t>-0.004233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962200568</a:t>
            </a:r>
          </a:p>
          <a:p>
            <a:pPr marL="0" indent="0">
              <a:buNone/>
            </a:pPr>
            <a:r>
              <a:rPr lang="ru-RU" dirty="0"/>
              <a:t>-0.008324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944790347</a:t>
            </a:r>
          </a:p>
          <a:p>
            <a:pPr marL="0" indent="0">
              <a:buNone/>
            </a:pPr>
            <a:r>
              <a:rPr lang="ru-RU" dirty="0"/>
              <a:t>-0.005027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225423647</a:t>
            </a:r>
          </a:p>
          <a:p>
            <a:pPr marL="0" indent="0">
              <a:buNone/>
            </a:pPr>
            <a:r>
              <a:rPr lang="ru-RU" dirty="0"/>
              <a:t> 0.007048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545312847</a:t>
            </a:r>
          </a:p>
          <a:p>
            <a:pPr marL="0" indent="0">
              <a:buNone/>
            </a:pPr>
            <a:r>
              <a:rPr lang="ru-RU" dirty="0"/>
              <a:t> 0.020048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967691845</a:t>
            </a:r>
          </a:p>
          <a:p>
            <a:pPr marL="0" indent="0">
              <a:buNone/>
            </a:pPr>
            <a:r>
              <a:rPr lang="ru-RU" dirty="0"/>
              <a:t> 0.018533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365453816</a:t>
            </a:r>
          </a:p>
          <a:p>
            <a:pPr marL="0" indent="0">
              <a:buNone/>
            </a:pPr>
            <a:r>
              <a:rPr lang="ru-RU" dirty="0"/>
              <a:t>-0.005560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940242101</a:t>
            </a:r>
          </a:p>
          <a:p>
            <a:pPr marL="0" indent="0">
              <a:buNone/>
            </a:pPr>
            <a:r>
              <a:rPr lang="ru-RU" dirty="0"/>
              <a:t>-0.040322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967131158</a:t>
            </a:r>
          </a:p>
          <a:p>
            <a:pPr marL="0" indent="0">
              <a:buNone/>
            </a:pPr>
            <a:r>
              <a:rPr lang="ru-RU" dirty="0"/>
              <a:t>-0.053290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425422471</a:t>
            </a:r>
          </a:p>
          <a:p>
            <a:pPr marL="0" indent="0">
              <a:buNone/>
            </a:pPr>
            <a:r>
              <a:rPr lang="ru-RU" dirty="0"/>
              <a:t>-0.012657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989396354</a:t>
            </a:r>
          </a:p>
          <a:p>
            <a:pPr marL="0" indent="0">
              <a:buNone/>
            </a:pPr>
            <a:r>
              <a:rPr lang="ru-RU" dirty="0"/>
              <a:t> 0.085783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400353809</a:t>
            </a:r>
          </a:p>
          <a:p>
            <a:pPr marL="0" indent="0">
              <a:buNone/>
            </a:pPr>
            <a:r>
              <a:rPr lang="ru-RU" dirty="0"/>
              <a:t> 0.205779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545328985</a:t>
            </a:r>
          </a:p>
          <a:p>
            <a:pPr marL="0" indent="0">
              <a:buNone/>
            </a:pPr>
            <a:r>
              <a:rPr lang="ru-RU" dirty="0"/>
              <a:t> 0.288210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</a:rPr>
              <a:t>981704363</a:t>
            </a:r>
          </a:p>
        </p:txBody>
      </p:sp>
    </p:spTree>
    <p:extLst>
      <p:ext uri="{BB962C8B-B14F-4D97-AF65-F5344CB8AC3E}">
        <p14:creationId xmlns:p14="http://schemas.microsoft.com/office/powerpoint/2010/main" val="2559858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90C01-8F40-427D-985F-8DB4B2DC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63F832A-E2B3-48BA-B904-5AD2A10B1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644"/>
            <a:ext cx="12192000" cy="6603188"/>
          </a:xfrm>
        </p:spPr>
      </p:pic>
    </p:spTree>
    <p:extLst>
      <p:ext uri="{BB962C8B-B14F-4D97-AF65-F5344CB8AC3E}">
        <p14:creationId xmlns:p14="http://schemas.microsoft.com/office/powerpoint/2010/main" val="3572493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6AEBCB8-D04E-4D66-A7A4-5388D99B2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289" y="1724220"/>
            <a:ext cx="5797859" cy="418608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767348-C206-4AE1-BDCD-C39557C64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33" y="1724221"/>
            <a:ext cx="5797858" cy="418608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7FB3DE-A23D-49CE-990B-EFCCE61DF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 на воздействие синусоид</a:t>
            </a:r>
          </a:p>
        </p:txBody>
      </p:sp>
    </p:spTree>
    <p:extLst>
      <p:ext uri="{BB962C8B-B14F-4D97-AF65-F5344CB8AC3E}">
        <p14:creationId xmlns:p14="http://schemas.microsoft.com/office/powerpoint/2010/main" val="56743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0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  <a:endParaRPr lang="ru-RU" baseline="-25000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1899A8-7BBB-48F0-9C3E-3AF6FE348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74773"/>
            <a:ext cx="6195146" cy="362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23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928584-5830-4996-B305-9FF8313CF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4773"/>
            <a:ext cx="6195147" cy="3627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1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  <a:endParaRPr lang="ru-RU" baseline="-25000" dirty="0"/>
          </a:p>
          <a:p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1</a:t>
            </a:r>
          </a:p>
          <a:p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1627949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A24A85-48C8-49C5-93E2-F4A20B844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4773"/>
            <a:ext cx="6195147" cy="3627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2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  <a:endParaRPr lang="ru-RU" baseline="-25000" dirty="0"/>
          </a:p>
          <a:p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1</a:t>
            </a:r>
          </a:p>
          <a:p>
            <a:r>
              <a:rPr lang="en-US" dirty="0"/>
              <a:t>y</a:t>
            </a:r>
            <a:r>
              <a:rPr lang="en-US" baseline="-25000" dirty="0"/>
              <a:t>2</a:t>
            </a:r>
            <a:r>
              <a:rPr lang="en-US" dirty="0"/>
              <a:t> = 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2</a:t>
            </a:r>
          </a:p>
          <a:p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3100004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805313-FD7B-4DB6-BDD9-6BF213D2D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4773"/>
            <a:ext cx="6195147" cy="3627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3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  <a:endParaRPr lang="ru-RU" baseline="-25000" dirty="0"/>
          </a:p>
          <a:p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1</a:t>
            </a:r>
          </a:p>
          <a:p>
            <a:r>
              <a:rPr lang="en-US" dirty="0"/>
              <a:t>y</a:t>
            </a:r>
            <a:r>
              <a:rPr lang="en-US" baseline="-25000" dirty="0"/>
              <a:t>2</a:t>
            </a:r>
            <a:r>
              <a:rPr lang="en-US" dirty="0"/>
              <a:t> = 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2</a:t>
            </a:r>
          </a:p>
          <a:p>
            <a:r>
              <a:rPr lang="en-US" dirty="0"/>
              <a:t>y</a:t>
            </a:r>
            <a:r>
              <a:rPr lang="en-US" baseline="-25000" dirty="0"/>
              <a:t>3</a:t>
            </a:r>
            <a:r>
              <a:rPr lang="en-US" dirty="0"/>
              <a:t> = x</a:t>
            </a:r>
            <a:r>
              <a:rPr lang="en-US" baseline="-25000" dirty="0"/>
              <a:t>3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3</a:t>
            </a:r>
          </a:p>
          <a:p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480061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66EC76-2F60-47A3-8C4C-A431908CF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4773"/>
            <a:ext cx="6195147" cy="3627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4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  <a:endParaRPr lang="ru-RU" baseline="-25000" dirty="0"/>
          </a:p>
          <a:p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1</a:t>
            </a:r>
          </a:p>
          <a:p>
            <a:r>
              <a:rPr lang="en-US" dirty="0"/>
              <a:t>y</a:t>
            </a:r>
            <a:r>
              <a:rPr lang="en-US" baseline="-25000" dirty="0"/>
              <a:t>2</a:t>
            </a:r>
            <a:r>
              <a:rPr lang="en-US" dirty="0"/>
              <a:t> = 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2</a:t>
            </a:r>
          </a:p>
          <a:p>
            <a:r>
              <a:rPr lang="en-US" dirty="0"/>
              <a:t>y</a:t>
            </a:r>
            <a:r>
              <a:rPr lang="en-US" baseline="-25000" dirty="0"/>
              <a:t>3</a:t>
            </a:r>
            <a:r>
              <a:rPr lang="en-US" dirty="0"/>
              <a:t> = x</a:t>
            </a:r>
            <a:r>
              <a:rPr lang="en-US" baseline="-25000" dirty="0"/>
              <a:t>3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3</a:t>
            </a:r>
          </a:p>
          <a:p>
            <a:r>
              <a:rPr lang="en-US" dirty="0"/>
              <a:t>y</a:t>
            </a:r>
            <a:r>
              <a:rPr lang="en-US" baseline="-25000" dirty="0"/>
              <a:t>4</a:t>
            </a:r>
            <a:r>
              <a:rPr lang="en-US" dirty="0"/>
              <a:t> = x</a:t>
            </a:r>
            <a:r>
              <a:rPr lang="en-US" baseline="-25000" dirty="0"/>
              <a:t>4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3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3</a:t>
            </a:r>
          </a:p>
          <a:p>
            <a:endParaRPr lang="en-US" baseline="-25000" dirty="0"/>
          </a:p>
          <a:p>
            <a:r>
              <a:rPr lang="en-US" dirty="0"/>
              <a:t>y</a:t>
            </a:r>
            <a:r>
              <a:rPr lang="en-US" baseline="-25000" dirty="0"/>
              <a:t>i</a:t>
            </a:r>
            <a:r>
              <a:rPr lang="en-US" dirty="0"/>
              <a:t> = x</a:t>
            </a:r>
            <a:r>
              <a:rPr lang="en-US" baseline="-25000" dirty="0"/>
              <a:t>i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i-1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i-2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i-3</a:t>
            </a:r>
            <a:r>
              <a:rPr lang="en-US" dirty="0"/>
              <a:t>h</a:t>
            </a:r>
            <a:r>
              <a:rPr lang="en-US" baseline="-25000" dirty="0"/>
              <a:t>3</a:t>
            </a:r>
          </a:p>
          <a:p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52631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 + дерево сумматоров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-1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=</a:t>
            </a:r>
            <a:r>
              <a:rPr lang="ru-RU" dirty="0"/>
              <a:t> (пока пусто)</a:t>
            </a:r>
            <a:endParaRPr lang="ru-RU" baseline="-25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EBF2578-6157-4A95-8BF7-D67CB326F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0824"/>
            <a:ext cx="6195148" cy="330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95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0A01DC-443C-4177-B744-85BFD7308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80824"/>
            <a:ext cx="6195148" cy="330370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 + дерево сумматоров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0.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3481792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166125-CF2A-41EE-8944-0809E2A2D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80824"/>
            <a:ext cx="6195148" cy="330370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 + дерево сумматоров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1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</a:p>
          <a:p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1</a:t>
            </a:r>
          </a:p>
          <a:p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109255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3E69A6-118C-40A9-AB5C-B63A4EE67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4" y="1980823"/>
            <a:ext cx="6195146" cy="330370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 + дерево сумматоров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2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</a:p>
          <a:p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1</a:t>
            </a:r>
          </a:p>
          <a:p>
            <a:r>
              <a:rPr lang="en-US" dirty="0"/>
              <a:t>y</a:t>
            </a:r>
            <a:r>
              <a:rPr lang="en-US" baseline="-25000" dirty="0"/>
              <a:t>2</a:t>
            </a:r>
            <a:r>
              <a:rPr lang="en-US" dirty="0"/>
              <a:t> = 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2</a:t>
            </a:r>
          </a:p>
          <a:p>
            <a:endParaRPr lang="en-US" baseline="-25000" dirty="0"/>
          </a:p>
          <a:p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2019163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9D88DE-FA91-41C5-AE1F-51679C845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0823"/>
            <a:ext cx="6195144" cy="330370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 + дерево сумматоров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3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</a:p>
          <a:p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1</a:t>
            </a:r>
          </a:p>
          <a:p>
            <a:r>
              <a:rPr lang="en-US" dirty="0"/>
              <a:t>y</a:t>
            </a:r>
            <a:r>
              <a:rPr lang="en-US" baseline="-25000" dirty="0"/>
              <a:t>2</a:t>
            </a:r>
            <a:r>
              <a:rPr lang="en-US" dirty="0"/>
              <a:t> = 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2</a:t>
            </a:r>
          </a:p>
          <a:p>
            <a:r>
              <a:rPr lang="en-US" dirty="0"/>
              <a:t>y</a:t>
            </a:r>
            <a:r>
              <a:rPr lang="en-US" baseline="-25000" dirty="0"/>
              <a:t>3</a:t>
            </a:r>
            <a:r>
              <a:rPr lang="en-US" dirty="0"/>
              <a:t> = x</a:t>
            </a:r>
            <a:r>
              <a:rPr lang="en-US" baseline="-25000" dirty="0"/>
              <a:t>3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3</a:t>
            </a:r>
          </a:p>
          <a:p>
            <a:endParaRPr lang="en-US" baseline="-25000" dirty="0"/>
          </a:p>
          <a:p>
            <a:endParaRPr lang="en-US" baseline="-25000" dirty="0"/>
          </a:p>
          <a:p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264182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C85F87-9D7F-46B7-B00E-01B5B5C9F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0823"/>
            <a:ext cx="6195144" cy="330370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 + дерево сумматоров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4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</a:p>
          <a:p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1</a:t>
            </a:r>
          </a:p>
          <a:p>
            <a:r>
              <a:rPr lang="en-US" dirty="0"/>
              <a:t>y</a:t>
            </a:r>
            <a:r>
              <a:rPr lang="en-US" baseline="-25000" dirty="0"/>
              <a:t>2</a:t>
            </a:r>
            <a:r>
              <a:rPr lang="en-US" dirty="0"/>
              <a:t> = 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2</a:t>
            </a:r>
          </a:p>
          <a:p>
            <a:r>
              <a:rPr lang="en-US" dirty="0"/>
              <a:t>y</a:t>
            </a:r>
            <a:r>
              <a:rPr lang="en-US" baseline="-25000" dirty="0"/>
              <a:t>3</a:t>
            </a:r>
            <a:r>
              <a:rPr lang="en-US" dirty="0"/>
              <a:t> = x</a:t>
            </a:r>
            <a:r>
              <a:rPr lang="en-US" baseline="-25000" dirty="0"/>
              <a:t>3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3</a:t>
            </a:r>
          </a:p>
          <a:p>
            <a:r>
              <a:rPr lang="en-US" dirty="0"/>
              <a:t>y</a:t>
            </a:r>
            <a:r>
              <a:rPr lang="en-US" baseline="-25000" dirty="0"/>
              <a:t>4</a:t>
            </a:r>
            <a:r>
              <a:rPr lang="en-US" dirty="0"/>
              <a:t> = x</a:t>
            </a:r>
            <a:r>
              <a:rPr lang="en-US" baseline="-25000" dirty="0"/>
              <a:t>4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3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3</a:t>
            </a:r>
          </a:p>
          <a:p>
            <a:endParaRPr lang="en-US" baseline="-25000" dirty="0"/>
          </a:p>
          <a:p>
            <a:r>
              <a:rPr lang="en-US" dirty="0"/>
              <a:t>y</a:t>
            </a:r>
            <a:r>
              <a:rPr lang="en-US" baseline="-25000" dirty="0"/>
              <a:t>i</a:t>
            </a:r>
            <a:r>
              <a:rPr lang="en-US" dirty="0"/>
              <a:t> = x</a:t>
            </a:r>
            <a:r>
              <a:rPr lang="en-US" baseline="-25000" dirty="0"/>
              <a:t>i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i-1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i-2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i-3</a:t>
            </a:r>
            <a:r>
              <a:rPr lang="en-US" dirty="0"/>
              <a:t>h</a:t>
            </a:r>
            <a:r>
              <a:rPr lang="en-US" baseline="-25000" dirty="0"/>
              <a:t>3</a:t>
            </a:r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3620511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 + конвейерный сумматор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0.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ru-RU" baseline="-25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26B61B2-5227-4E2B-8EF0-28CF39F6A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950809" cy="258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951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8D734F-9B45-4EB5-AAB1-6E2B64DDA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950810" cy="258225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 + конвейерный сумматор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1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</a:p>
          <a:p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1</a:t>
            </a:r>
          </a:p>
          <a:p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1526988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A1C68A-1C79-471B-8F33-583F27775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86410"/>
            <a:ext cx="6950810" cy="258225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 + конвейерный сумматор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2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</a:p>
          <a:p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1</a:t>
            </a:r>
          </a:p>
          <a:p>
            <a:r>
              <a:rPr lang="en-US" dirty="0"/>
              <a:t>y</a:t>
            </a:r>
            <a:r>
              <a:rPr lang="en-US" baseline="-25000" dirty="0"/>
              <a:t>2</a:t>
            </a:r>
            <a:r>
              <a:rPr lang="en-US" dirty="0"/>
              <a:t> = 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2</a:t>
            </a:r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4284629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97B597-18FD-4034-8D8A-C743E2D9E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86410"/>
            <a:ext cx="6950810" cy="258225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 + конвейерный сумматор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3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</a:p>
          <a:p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1</a:t>
            </a:r>
          </a:p>
          <a:p>
            <a:r>
              <a:rPr lang="en-US" dirty="0"/>
              <a:t>y</a:t>
            </a:r>
            <a:r>
              <a:rPr lang="en-US" baseline="-25000" dirty="0"/>
              <a:t>2</a:t>
            </a:r>
            <a:r>
              <a:rPr lang="en-US" dirty="0"/>
              <a:t> = 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2</a:t>
            </a:r>
          </a:p>
          <a:p>
            <a:r>
              <a:rPr lang="en-US" dirty="0"/>
              <a:t>y</a:t>
            </a:r>
            <a:r>
              <a:rPr lang="en-US" baseline="-25000" dirty="0"/>
              <a:t>3</a:t>
            </a:r>
            <a:r>
              <a:rPr lang="en-US" dirty="0"/>
              <a:t> = x</a:t>
            </a:r>
            <a:r>
              <a:rPr lang="en-US" baseline="-25000" dirty="0"/>
              <a:t>3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3</a:t>
            </a:r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2245862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59B1C9-3A19-4B75-8CA6-428B91A22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950810" cy="258225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D1785-0353-4BEC-9D4C-F00A71BA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КИХ фильтр + конвейерный сумматор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3AFB3-5CD3-4337-9BDC-A3DD4ABAB2F5}"/>
              </a:ext>
            </a:extLst>
          </p:cNvPr>
          <p:cNvSpPr txBox="1"/>
          <p:nvPr/>
        </p:nvSpPr>
        <p:spPr>
          <a:xfrm>
            <a:off x="8392160" y="1690688"/>
            <a:ext cx="33426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Такт </a:t>
            </a:r>
            <a:r>
              <a:rPr lang="en-US" dirty="0"/>
              <a:t>4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Выход:</a:t>
            </a:r>
          </a:p>
          <a:p>
            <a:endParaRPr lang="ru-RU" dirty="0"/>
          </a:p>
          <a:p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0</a:t>
            </a:r>
          </a:p>
          <a:p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1</a:t>
            </a:r>
          </a:p>
          <a:p>
            <a:r>
              <a:rPr lang="en-US" dirty="0"/>
              <a:t>y</a:t>
            </a:r>
            <a:r>
              <a:rPr lang="en-US" baseline="-25000" dirty="0"/>
              <a:t>2</a:t>
            </a:r>
            <a:r>
              <a:rPr lang="en-US" dirty="0"/>
              <a:t> = 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2</a:t>
            </a:r>
          </a:p>
          <a:p>
            <a:r>
              <a:rPr lang="en-US" dirty="0"/>
              <a:t>y</a:t>
            </a:r>
            <a:r>
              <a:rPr lang="en-US" baseline="-25000" dirty="0"/>
              <a:t>3</a:t>
            </a:r>
            <a:r>
              <a:rPr lang="en-US" dirty="0"/>
              <a:t> = x</a:t>
            </a:r>
            <a:r>
              <a:rPr lang="en-US" baseline="-25000" dirty="0"/>
              <a:t>3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0</a:t>
            </a:r>
            <a:r>
              <a:rPr lang="en-US" dirty="0"/>
              <a:t>h</a:t>
            </a:r>
            <a:r>
              <a:rPr lang="en-US" baseline="-25000" dirty="0"/>
              <a:t>3</a:t>
            </a:r>
          </a:p>
          <a:p>
            <a:r>
              <a:rPr lang="en-US" dirty="0"/>
              <a:t>y</a:t>
            </a:r>
            <a:r>
              <a:rPr lang="en-US" baseline="-25000" dirty="0"/>
              <a:t>4</a:t>
            </a:r>
            <a:r>
              <a:rPr lang="en-US" dirty="0"/>
              <a:t> = x</a:t>
            </a:r>
            <a:r>
              <a:rPr lang="en-US" baseline="-25000" dirty="0"/>
              <a:t>4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3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1</a:t>
            </a:r>
            <a:r>
              <a:rPr lang="en-US" dirty="0"/>
              <a:t>h</a:t>
            </a:r>
            <a:r>
              <a:rPr lang="en-US" baseline="-25000" dirty="0"/>
              <a:t>3</a:t>
            </a:r>
          </a:p>
          <a:p>
            <a:endParaRPr lang="en-US" baseline="-25000" dirty="0"/>
          </a:p>
          <a:p>
            <a:r>
              <a:rPr lang="en-US" dirty="0"/>
              <a:t>y</a:t>
            </a:r>
            <a:r>
              <a:rPr lang="en-US" baseline="-25000" dirty="0"/>
              <a:t>i</a:t>
            </a:r>
            <a:r>
              <a:rPr lang="en-US" dirty="0"/>
              <a:t> = x</a:t>
            </a:r>
            <a:r>
              <a:rPr lang="en-US" baseline="-25000" dirty="0"/>
              <a:t>i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+x</a:t>
            </a:r>
            <a:r>
              <a:rPr lang="en-US" baseline="-25000" dirty="0"/>
              <a:t>i-1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+x</a:t>
            </a:r>
            <a:r>
              <a:rPr lang="en-US" baseline="-25000" dirty="0"/>
              <a:t>i-2</a:t>
            </a: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+x</a:t>
            </a:r>
            <a:r>
              <a:rPr lang="en-US" baseline="-25000" dirty="0"/>
              <a:t>i-3</a:t>
            </a:r>
            <a:r>
              <a:rPr lang="en-US" dirty="0"/>
              <a:t>h</a:t>
            </a:r>
            <a:r>
              <a:rPr lang="en-US" baseline="-25000" dirty="0"/>
              <a:t>3</a:t>
            </a:r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ru-RU" baseline="-25000" dirty="0"/>
          </a:p>
        </p:txBody>
      </p:sp>
    </p:spTree>
    <p:extLst>
      <p:ext uri="{BB962C8B-B14F-4D97-AF65-F5344CB8AC3E}">
        <p14:creationId xmlns:p14="http://schemas.microsoft.com/office/powerpoint/2010/main" val="1126001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615</Words>
  <Application>Microsoft Office PowerPoint</Application>
  <PresentationFormat>Широкоэкранный</PresentationFormat>
  <Paragraphs>205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Menlo</vt:lpstr>
      <vt:lpstr>Тема Office</vt:lpstr>
      <vt:lpstr>Созвон 1</vt:lpstr>
      <vt:lpstr>Формирование КИХ-фильтра</vt:lpstr>
      <vt:lpstr>Формирование КИХ-фильтра (S16.14)</vt:lpstr>
      <vt:lpstr>Формирование КИХ-фильтра (S16.16)</vt:lpstr>
      <vt:lpstr>Двоичное представление</vt:lpstr>
      <vt:lpstr>Презентация PowerPoint</vt:lpstr>
      <vt:lpstr>Тест на воздействие синусоид</vt:lpstr>
      <vt:lpstr>КИХ фильтр</vt:lpstr>
      <vt:lpstr>КИХ фильтр</vt:lpstr>
      <vt:lpstr>КИХ фильтр</vt:lpstr>
      <vt:lpstr>КИХ фильтр</vt:lpstr>
      <vt:lpstr>КИХ фильтр</vt:lpstr>
      <vt:lpstr>КИХ фильтр + дерево сумматоров</vt:lpstr>
      <vt:lpstr>КИХ фильтр + дерево сумматоров</vt:lpstr>
      <vt:lpstr>КИХ фильтр + дерево сумматоров</vt:lpstr>
      <vt:lpstr>КИХ фильтр + дерево сумматоров</vt:lpstr>
      <vt:lpstr>КИХ фильтр + дерево сумматоров</vt:lpstr>
      <vt:lpstr>КИХ фильтр + дерево сумматоров</vt:lpstr>
      <vt:lpstr>КИХ фильтр + конвейерный сумматор</vt:lpstr>
      <vt:lpstr>КИХ фильтр + конвейерный сумматор</vt:lpstr>
      <vt:lpstr>КИХ фильтр + конвейерный сумматор</vt:lpstr>
      <vt:lpstr>КИХ фильтр + конвейерный сумматор</vt:lpstr>
      <vt:lpstr>КИХ фильтр + конвейерный сумматор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Созвон 1</dc:title>
  <dc:creator>Hoffnung</dc:creator>
  <cp:lastModifiedBy>Hoffnung</cp:lastModifiedBy>
  <cp:revision>58</cp:revision>
  <dcterms:created xsi:type="dcterms:W3CDTF">2026-05-19T07:44:43Z</dcterms:created>
  <dcterms:modified xsi:type="dcterms:W3CDTF">2026-05-28T21:23:26Z</dcterms:modified>
</cp:coreProperties>
</file>