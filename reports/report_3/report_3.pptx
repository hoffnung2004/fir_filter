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11" r:id="rId14"/>
    <p:sldId id="307" r:id="rId15"/>
    <p:sldId id="257" r:id="rId16"/>
    <p:sldId id="258" r:id="rId17"/>
    <p:sldId id="312" r:id="rId18"/>
    <p:sldId id="308" r:id="rId19"/>
    <p:sldId id="309" r:id="rId20"/>
    <p:sldId id="310" r:id="rId21"/>
    <p:sldId id="260" r:id="rId22"/>
    <p:sldId id="261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9DCA2-93B1-4F31-8C3F-2A3DEA56900C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02663-51D8-44ED-B6AE-ED96E10AD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50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0bed06f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0bed06f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0bed06f0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0bed06f0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0bed06f0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0bed06f0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0bed06f0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0bed06f0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70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E210E-E36F-4ED9-BB13-1DE347C80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5DF1E0-3F05-4445-8395-F5D3D7891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68F7CC-D7EE-4654-B609-1C108270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A35A4-29E5-4EC8-8DB8-CE8F57E1CE6D}" type="datetime1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13806B-F2CD-40D3-8E07-51B56B7C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DDC38-DE25-4FDF-A6B8-7B211040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69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89026-216A-490E-8C62-D264B2A2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EDB73-B487-408B-A4E4-BD120C6CA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88FB4B-BBB9-4F53-9313-78338CE9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F69E6-E3F7-4C17-99AD-54E99355F412}" type="datetime1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58B3CB-23D5-4BB2-A294-EB5A6E78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31971B-9AF3-4065-B7D2-B266C90D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89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A1817-FC41-4C54-B187-F9999A40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E403C8-78C1-4EF2-86F7-564CDCE5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C396C2-6327-4C7D-AF5B-D841EC39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3E1B-A06A-4B0E-8AA3-BED2FAC59313}" type="datetime1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790DC7-53C8-44FC-96BE-6FE8E5A2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83F86-762C-416F-9ACC-93F288DA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9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55652-5604-47D9-AB96-7137F55A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86F4D0-E267-4FC6-A89C-D66CA6193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592C34-2970-4577-8316-3F6E8539F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873B8-3FDA-43A5-94B0-9342E9AF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69B0-E031-409D-B275-6D66F63FE2B0}" type="datetime1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1871B6-8C86-47AB-A792-45BA2AAC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52E863-3248-452C-8944-D3DFA52D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74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7707A-6E79-4F3B-9FF4-884E07D5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32A4F3-6C84-4334-B06F-1909E592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65359D-617C-411B-920A-C8CDB9924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3C9141-8621-4086-A43E-9DE019DCB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CD4B5D-E59B-4719-AAEB-9F97023EB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8E4EC5-150C-4F20-AF67-24A3BC26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E7BE7-9C90-4F79-9517-A41625B3314D}" type="datetime1">
              <a:rPr lang="ru-RU" smtClean="0"/>
              <a:t>05.07.2026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4E330A-295A-42CD-8EA8-97032FC2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2151DC-2DDB-4536-98FE-8E510575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2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BE68B-1481-48E5-AE5D-11A115DB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2B73A4-C1D5-4588-9835-9C0A194E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7437-9B1F-4E95-A4F7-FF89F7F3DCC5}" type="datetime1">
              <a:rPr lang="ru-RU" smtClean="0"/>
              <a:t>05.07.2026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5A2E3B-CFA0-405C-9457-218D6E10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8A2788-DFE1-44DC-8370-37EB4A5E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65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86F9D9-5F8A-4B63-BBFD-7E4E62F5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ACD90-1AAA-4A41-81EB-133F5DDE2F2E}" type="datetime1">
              <a:rPr lang="ru-RU" smtClean="0"/>
              <a:t>05.07.2026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7453757-EF97-49FD-9BDC-F0240931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05C6F6-ED97-4FCE-A8B5-71FC3E8E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22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48C5F-ADEF-4D26-8618-D808F9EA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59A3CC-2366-4579-8558-49E3895E1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B12524-F8B6-4E58-A735-8C6B9598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52D54A-DE43-4A2C-8C33-2BC4ABF9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73E3-550A-47C5-8089-F4BE4BC53980}" type="datetime1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61691F-4000-49EE-9CBD-0A6C5CF8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DB216-575B-46D9-A918-8110E285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28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A396C-5AF8-4C36-BB69-81E226B1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2C1A2C-BDC0-450E-8364-411BE9FDA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E3AFDC-A766-4FA6-B280-B83B001FD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31E945-613A-4143-A818-A156212FD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C1A-DEAE-4E63-A592-7A4B22DCF8D3}" type="datetime1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1D5FDE-9469-4301-B05F-90E5EB5E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D0C240-7DBB-4104-944B-998476DE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46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F2BC8-97F7-4DE3-9558-1385B47C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2C5682-4EE5-48E3-AB5F-40D745A5E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25D9A-39F8-4298-9699-D32CE634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5B84-A9AD-4C08-A191-44078E236BC8}" type="datetime1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F74AF2-FA6A-4678-B1B1-7C9546F6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613EA2-9264-49C0-A2AA-E9E319AB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11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B686840-541A-40FB-81BE-E6164E193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0723DD-161B-4C1C-8E9F-00EB061D9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F6598-C1EB-4204-946F-B84FA17B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6663-6AFB-4638-A533-6DE3FC4288E4}" type="datetime1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869D6-027C-42CB-BC45-EBD7E0B3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107EE9-2B32-4E4D-9837-193276C1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6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00016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5504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A4265-BFE0-43AC-B00E-21889885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B3BA7F-B072-46AD-A483-EE1723C5B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0EA8D-59D2-4828-B018-2C26EF2EE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F5135-9C2B-45D8-99E6-40A3D7AD5073}" type="datetime1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9B5AB8-E2AC-4776-86DF-F4D8D9560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15F86-9DD5-40F7-A922-050D21A3E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4E486-61CD-40DC-8F9F-F0566EFA55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38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5BE84-4784-459F-9773-40F1098A8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Созвон</a:t>
            </a:r>
            <a:r>
              <a:rPr lang="ru-RU" dirty="0"/>
              <a:t> 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DA386E-F8F3-4AFD-B1E8-DB3339E28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CEF8BA-575A-4ED6-AE9F-5B0708B8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68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797EB-1EB5-447C-AEDF-96AB8B4D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Эталонная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927CAC-CB16-4F70-B209-A81763F89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33842" cy="4351338"/>
          </a:xfrm>
        </p:spPr>
        <p:txBody>
          <a:bodyPr/>
          <a:lstStyle/>
          <a:p>
            <a:r>
              <a:rPr lang="ru-RU" sz="2800" b="0" i="0" dirty="0">
                <a:effectLst/>
                <a:latin typeface="Menlo"/>
              </a:rPr>
              <a:t>Учёт квантования на всех этапах вычисления</a:t>
            </a:r>
          </a:p>
          <a:p>
            <a:r>
              <a:rPr lang="ru-RU" sz="2800" b="0" i="0" dirty="0">
                <a:effectLst/>
                <a:latin typeface="Menlo"/>
              </a:rPr>
              <a:t>Работа независимо от архитектуры</a:t>
            </a:r>
          </a:p>
          <a:p>
            <a:r>
              <a:rPr lang="ru-RU" dirty="0">
                <a:latin typeface="Menlo"/>
              </a:rPr>
              <a:t>Допущение, что </a:t>
            </a:r>
            <a:r>
              <a:rPr lang="ru-RU" dirty="0" err="1">
                <a:latin typeface="Menlo"/>
              </a:rPr>
              <a:t>битности</a:t>
            </a:r>
            <a:r>
              <a:rPr lang="ru-RU" dirty="0">
                <a:latin typeface="Menlo"/>
              </a:rPr>
              <a:t> хватает на все промежуточные вычисления</a:t>
            </a:r>
          </a:p>
          <a:p>
            <a:r>
              <a:rPr lang="ru-RU" dirty="0">
                <a:latin typeface="Menlo"/>
              </a:rPr>
              <a:t>2 файла – вход и ожидаемый выход</a:t>
            </a:r>
          </a:p>
          <a:p>
            <a:endParaRPr lang="ru-RU" sz="2800" b="0" i="0" dirty="0">
              <a:effectLst/>
              <a:latin typeface="Menlo"/>
            </a:endParaRPr>
          </a:p>
          <a:p>
            <a:endParaRPr lang="ru-RU" dirty="0">
              <a:latin typeface="Menlo"/>
            </a:endParaRPr>
          </a:p>
          <a:p>
            <a:endParaRPr lang="ru-RU" sz="2800" b="0" i="0" dirty="0">
              <a:effectLst/>
              <a:latin typeface="Menlo"/>
            </a:endParaRPr>
          </a:p>
          <a:p>
            <a:r>
              <a:rPr lang="ru-RU" dirty="0">
                <a:latin typeface="Menlo"/>
              </a:rPr>
              <a:t>Её работу вы фактически уже видели 🙃</a:t>
            </a:r>
            <a:endParaRPr lang="ru-RU" sz="2800" b="0" i="0" dirty="0">
              <a:effectLst/>
              <a:latin typeface="Menlo"/>
            </a:endParaRP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6D8935-0E77-4944-9C8F-FC767638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27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>
            <a:extLst>
              <a:ext uri="{FF2B5EF4-FFF2-40B4-BE49-F238E27FC236}">
                <a16:creationId xmlns:a16="http://schemas.microsoft.com/office/drawing/2014/main" id="{1EF032CC-6976-4A6E-8CB1-758A019BD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-5840"/>
            <a:ext cx="12673263" cy="686384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2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44CDB1-12DB-4B79-BBFB-9AF9E3654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-584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48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E30EF5-F20D-4154-B219-984EA89D6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-584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43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BC9A1E-52A0-4914-ACB5-FA929ADAA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-584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76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D58E54-264A-473F-B302-26979EE63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2" y="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28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A4E6F9-EAD5-43A7-9A74-61D8B4ECA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0"/>
            <a:ext cx="12662480" cy="6858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2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AD4EF8-4D19-494B-BC85-D5119A184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98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66573E-5478-4B6B-88D6-AD21D1EC9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37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89B6C1-6DF7-40CE-8C68-115EF43D6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-584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970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1722D1-7E32-4D37-8C9D-95D0A9044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1" y="-5840"/>
            <a:ext cx="12673263" cy="68638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DD141-3949-4566-BAA7-A1828E82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880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CAEF8-4999-4D48-BC77-31A6EB85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Тестбенч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4C66C91-0740-48EE-9690-122FD538B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3459"/>
            <a:ext cx="7153995" cy="2330896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87B5B8-F7F1-4317-95E6-7F6990FF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E486-61CD-40DC-8F9F-F0566EFA555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332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3913600" cy="428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rgbClr val="111111"/>
              </a:buClr>
              <a:buAutoNum type="arabicPeriod"/>
            </a:pPr>
            <a:r>
              <a:rPr lang="ru" dirty="0">
                <a:solidFill>
                  <a:srgbClr val="111111"/>
                </a:solidFill>
              </a:rPr>
              <a:t>tap_line хранит 32 отсчёта:</a:t>
            </a:r>
            <a:br>
              <a:rPr lang="ru" dirty="0">
                <a:solidFill>
                  <a:srgbClr val="111111"/>
                </a:solidFill>
              </a:rPr>
            </a:br>
            <a:r>
              <a:rPr lang="ru" dirty="0">
                <a:solidFill>
                  <a:srgbClr val="111111"/>
                </a:solidFill>
              </a:rPr>
              <a:t>x[n], x[n-1], ..., x[n-31]</a:t>
            </a:r>
            <a:endParaRPr dirty="0">
              <a:solidFill>
                <a:srgbClr val="111111"/>
              </a:solidFill>
            </a:endParaRPr>
          </a:p>
          <a:p>
            <a:pPr>
              <a:buClr>
                <a:srgbClr val="111111"/>
              </a:buClr>
              <a:buAutoNum type="arabicPeriod"/>
            </a:pPr>
            <a:r>
              <a:rPr lang="ru" dirty="0">
                <a:solidFill>
                  <a:srgbClr val="111111"/>
                </a:solidFill>
              </a:rPr>
              <a:t>gen_level0 формирует 32 произведения:hᵢ · x[n−i]</a:t>
            </a:r>
            <a:endParaRPr dirty="0">
              <a:solidFill>
                <a:srgbClr val="111111"/>
              </a:solidFill>
            </a:endParaRPr>
          </a:p>
          <a:p>
            <a:pPr>
              <a:buClr>
                <a:srgbClr val="111111"/>
              </a:buClr>
              <a:buAutoNum type="arabicPeriod"/>
            </a:pPr>
            <a:r>
              <a:rPr lang="ru" dirty="0">
                <a:solidFill>
                  <a:srgbClr val="111111"/>
                </a:solidFill>
              </a:rPr>
              <a:t>gen_level суммирует результаты через дерево сумматоров</a:t>
            </a:r>
            <a:endParaRPr dirty="0">
              <a:solidFill>
                <a:srgbClr val="111111"/>
              </a:solidFill>
            </a:endParaRPr>
          </a:p>
          <a:p>
            <a:pPr>
              <a:buClr>
                <a:srgbClr val="111111"/>
              </a:buClr>
              <a:buAutoNum type="arabicPeriod"/>
            </a:pPr>
            <a:r>
              <a:rPr lang="ru" dirty="0"/>
              <a:t> </a:t>
            </a:r>
            <a:r>
              <a:rPr lang="ru" dirty="0">
                <a:solidFill>
                  <a:srgbClr val="111111"/>
                </a:solidFill>
              </a:rPr>
              <a:t>signal_o получает итоговый результат фильтра</a:t>
            </a:r>
            <a:endParaRPr lang="en-US" dirty="0">
              <a:solidFill>
                <a:srgbClr val="111111"/>
              </a:solidFill>
            </a:endParaRPr>
          </a:p>
          <a:p>
            <a:pPr>
              <a:buClr>
                <a:srgbClr val="111111"/>
              </a:buClr>
              <a:buAutoNum type="arabicPeriod"/>
            </a:pPr>
            <a:endParaRPr lang="en-US" dirty="0">
              <a:solidFill>
                <a:srgbClr val="111111"/>
              </a:solidFill>
            </a:endParaRPr>
          </a:p>
          <a:p>
            <a:pPr marL="186262" indent="0">
              <a:buClr>
                <a:srgbClr val="111111"/>
              </a:buClr>
              <a:buNone/>
            </a:pPr>
            <a:r>
              <a:rPr lang="en-US" dirty="0">
                <a:solidFill>
                  <a:srgbClr val="111111"/>
                </a:solidFill>
              </a:rPr>
              <a:t>(</a:t>
            </a:r>
            <a:r>
              <a:rPr lang="ru-RU" dirty="0">
                <a:solidFill>
                  <a:srgbClr val="111111"/>
                </a:solidFill>
              </a:rPr>
              <a:t>задержка 6)</a:t>
            </a: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025" y="1988534"/>
            <a:ext cx="8030817" cy="395506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574280" y="1536634"/>
            <a:ext cx="3154987" cy="67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" sz="2400" dirty="0">
                <a:solidFill>
                  <a:srgbClr val="111111"/>
                </a:solidFill>
              </a:rPr>
              <a:t>y[n] = Σᵢ₌₀³¹ hᵢ · x[n−i]</a:t>
            </a:r>
            <a:endParaRPr sz="2400" dirty="0">
              <a:solidFill>
                <a:srgbClr val="11111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00FD2A7-D10D-443A-9B76-8714113F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</a:t>
            </a:r>
            <a:r>
              <a:rPr lang="en-US" dirty="0"/>
              <a:t>FIR-</a:t>
            </a:r>
            <a:r>
              <a:rPr lang="ru-RU" dirty="0"/>
              <a:t>фильтра</a:t>
            </a:r>
            <a:br>
              <a:rPr lang="ru-RU" dirty="0"/>
            </a:br>
            <a:r>
              <a:rPr lang="ru-RU" dirty="0"/>
              <a:t>с деревом сумматоров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985313" y="990834"/>
            <a:ext cx="4835600" cy="555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logic signed [SIGNAL_WIDTH-1:0]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tap_line [0:COEFF_NUM-1] = '{default:'0};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always_ff @(posedge clk_i) begin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tap_line[0] &lt;= signal_i;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for (int i = 1; i &lt; COEFF_NUM; i++) begin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tap_line[i] &lt;= tap_line[i-1];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end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end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for (genvar mul_i = 0;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mul_i &lt; TREE_WIDTH[0];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mul_i++) begin : gen_level0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localparam int W = TREE_BIT_WIDTH[0][mul_i];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logic signed [W-1:0] result_comb;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logic signed [W-1:0] q = '0;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filter_cell #( ... ) mul_cell (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.i_factor_0(tap_line[mul_i]),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.i_factor_1(COEFFS[mul_i]),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.i_addend (1'sd0),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.o_result (result_comb)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);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always_ff @(posedge clk_i) begin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q &lt;= result_comb;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end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assign tree_q[0][mul_i] = $signed(q);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end </a:t>
            </a:r>
            <a:endParaRPr sz="1200">
              <a:solidFill>
                <a:srgbClr val="111111"/>
              </a:solidFill>
            </a:endParaRPr>
          </a:p>
        </p:txBody>
      </p:sp>
      <p:graphicFrame>
        <p:nvGraphicFramePr>
          <p:cNvPr id="64" name="Google Shape;64;p14"/>
          <p:cNvGraphicFramePr/>
          <p:nvPr>
            <p:extLst>
              <p:ext uri="{D42A27DB-BD31-4B8C-83A1-F6EECF244321}">
                <p14:modId xmlns:p14="http://schemas.microsoft.com/office/powerpoint/2010/main" val="1429687961"/>
              </p:ext>
            </p:extLst>
          </p:nvPr>
        </p:nvGraphicFramePr>
        <p:xfrm>
          <a:off x="985313" y="1056633"/>
          <a:ext cx="4173200" cy="5463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1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6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Google Shape;65;p14"/>
          <p:cNvSpPr txBox="1"/>
          <p:nvPr/>
        </p:nvSpPr>
        <p:spPr>
          <a:xfrm>
            <a:off x="5359813" y="1056634"/>
            <a:ext cx="5723600" cy="4068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tap_line хранит историю входа: </a:t>
            </a:r>
            <a:br>
              <a:rPr lang="ru" sz="2400" dirty="0">
                <a:solidFill>
                  <a:srgbClr val="111111"/>
                </a:solidFill>
              </a:rPr>
            </a:br>
            <a:r>
              <a:rPr lang="ru" sz="2400" dirty="0">
                <a:solidFill>
                  <a:srgbClr val="111111"/>
                </a:solidFill>
              </a:rPr>
              <a:t>x[n], x[n-1], ..., x[n-31] 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Первый always_ff сдвигает линию задержки на каждом такте clk_i 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gen_level0 создаёт 32 ячейки умножения 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filter_cell считает: pᵢ = hᵢ · x[n−i] 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q регистрирует результат </a:t>
            </a:r>
            <a:br>
              <a:rPr lang="ru" sz="2400" dirty="0">
                <a:solidFill>
                  <a:srgbClr val="111111"/>
                </a:solidFill>
              </a:rPr>
            </a:br>
            <a:r>
              <a:rPr lang="ru" sz="2400" dirty="0">
                <a:solidFill>
                  <a:srgbClr val="111111"/>
                </a:solidFill>
              </a:rPr>
              <a:t>tree_q[0][i] передаёт его в дерево </a:t>
            </a:r>
            <a:endParaRPr sz="2400" dirty="0">
              <a:solidFill>
                <a:srgbClr val="11111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E042EB5-0885-4959-B79E-3FBB1084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587480" cy="1325563"/>
          </a:xfrm>
        </p:spPr>
        <p:txBody>
          <a:bodyPr>
            <a:normAutofit/>
          </a:bodyPr>
          <a:lstStyle/>
          <a:p>
            <a:r>
              <a:rPr lang="ru-RU" dirty="0"/>
              <a:t>Линия задержки и частичные произведения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940893" y="1323500"/>
            <a:ext cx="5754547" cy="4918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for (genvar level_i = 1; level_i &lt; TREE_LEN; level_i++) begin : gen_level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for (genvar node_i = 0; node_i &lt; TREE_WIDTH[level_i]; node_i++) begin : gen_node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assign sum_chain[0] = '0;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for (genvar term_i = 0; term_i &lt; TREE_STEP; term_i++) begin : gen_term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localparam int SRC_IDX = node_i * TREE_STEP + term_i;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if (SRC_IDX &lt; TREE_WIDTH[level_i-1])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    assign src_ext[term_i] = tree_q[level_i-1][SRC_IDX];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else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    assign src_ext[term_i] = '0;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assign sum_chain[term_i+1] =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    sum_chain[term_i] + src_ext[term_i];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end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always_ff @(posedge clk_i)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        q &lt;= sum_chain[TREE_STEP];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    end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r>
              <a:rPr lang="ru" sz="1200">
                <a:solidFill>
                  <a:srgbClr val="111111"/>
                </a:solidFill>
              </a:rPr>
              <a:t>end</a:t>
            </a:r>
            <a:endParaRPr sz="1200">
              <a:solidFill>
                <a:srgbClr val="111111"/>
              </a:solidFill>
            </a:endParaRPr>
          </a:p>
          <a:p>
            <a:pPr>
              <a:lnSpc>
                <a:spcPct val="115000"/>
              </a:lnSpc>
            </a:pPr>
            <a:endParaRPr sz="1200">
              <a:solidFill>
                <a:srgbClr val="111111"/>
              </a:solidFill>
            </a:endParaRPr>
          </a:p>
        </p:txBody>
      </p:sp>
      <p:graphicFrame>
        <p:nvGraphicFramePr>
          <p:cNvPr id="72" name="Google Shape;72;p15"/>
          <p:cNvGraphicFramePr/>
          <p:nvPr>
            <p:extLst>
              <p:ext uri="{D42A27DB-BD31-4B8C-83A1-F6EECF244321}">
                <p14:modId xmlns:p14="http://schemas.microsoft.com/office/powerpoint/2010/main" val="1221714786"/>
              </p:ext>
            </p:extLst>
          </p:nvPr>
        </p:nvGraphicFramePr>
        <p:xfrm>
          <a:off x="940893" y="1340400"/>
          <a:ext cx="5845371" cy="48916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845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91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Google Shape;73;p15"/>
          <p:cNvSpPr txBox="1"/>
          <p:nvPr/>
        </p:nvSpPr>
        <p:spPr>
          <a:xfrm>
            <a:off x="6905932" y="1323501"/>
            <a:ext cx="5286067" cy="534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Цикл по level_i строит уровни дерева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Цикл по node_i создаёт все узлы уровня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Внутри узла суммируются до TREE_STEP входов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Результат узла регистрируется: </a:t>
            </a:r>
            <a:br>
              <a:rPr lang="ru" sz="2400" dirty="0">
                <a:solidFill>
                  <a:srgbClr val="111111"/>
                </a:solidFill>
              </a:rPr>
            </a:br>
            <a:r>
              <a:rPr lang="ru" sz="2400" dirty="0">
                <a:solidFill>
                  <a:srgbClr val="111111"/>
                </a:solidFill>
              </a:rPr>
              <a:t>q &lt;= sum_chain[TREE_STEP]</a:t>
            </a:r>
            <a:endParaRPr sz="2400" dirty="0">
              <a:solidFill>
                <a:srgbClr val="111111"/>
              </a:solidFill>
            </a:endParaRPr>
          </a:p>
          <a:p>
            <a:pPr marL="609585" indent="-423323">
              <a:lnSpc>
                <a:spcPct val="115000"/>
              </a:lnSpc>
              <a:buClr>
                <a:srgbClr val="111111"/>
              </a:buClr>
              <a:buSzPts val="1400"/>
              <a:buAutoNum type="arabicPeriod"/>
            </a:pPr>
            <a:r>
              <a:rPr lang="ru" sz="2400" dirty="0">
                <a:solidFill>
                  <a:srgbClr val="111111"/>
                </a:solidFill>
              </a:rPr>
              <a:t>Финальный выход:</a:t>
            </a:r>
            <a:endParaRPr sz="2400" dirty="0">
              <a:solidFill>
                <a:srgbClr val="111111"/>
              </a:solidFill>
            </a:endParaRPr>
          </a:p>
          <a:p>
            <a:pPr marL="609585">
              <a:lnSpc>
                <a:spcPct val="115000"/>
              </a:lnSpc>
            </a:pPr>
            <a:r>
              <a:rPr lang="ru" sz="2400" dirty="0">
                <a:solidFill>
                  <a:srgbClr val="111111"/>
                </a:solidFill>
              </a:rPr>
              <a:t>signal_o = tree_q[TREE_LEN-1][0]</a:t>
            </a:r>
            <a:endParaRPr sz="2400" dirty="0">
              <a:solidFill>
                <a:srgbClr val="111111"/>
              </a:solidFill>
            </a:endParaRPr>
          </a:p>
          <a:p>
            <a:pPr marL="609585">
              <a:lnSpc>
                <a:spcPct val="115000"/>
              </a:lnSpc>
            </a:pPr>
            <a:endParaRPr sz="2400" dirty="0">
              <a:solidFill>
                <a:srgbClr val="111111"/>
              </a:solidFill>
            </a:endParaRPr>
          </a:p>
          <a:p>
            <a:pPr marL="609585">
              <a:lnSpc>
                <a:spcPct val="115000"/>
              </a:lnSpc>
            </a:pPr>
            <a:endParaRPr sz="2400" dirty="0">
              <a:solidFill>
                <a:srgbClr val="11111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418E242-50C8-493D-ACB7-AB3F78C7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Параметризированное дерево сумматоров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418E242-50C8-493D-ACB7-AB3F78C7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Прохождение тестов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10897A-CDCE-48D5-9EF4-D99CDCD5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3992"/>
            <a:ext cx="12192000" cy="564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41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транспонированной 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 Создание массива под входное дерево</a:t>
            </a:r>
          </a:p>
          <a:p>
            <a:r>
              <a:rPr lang="ru-RU" dirty="0"/>
              <a:t>2 Инициализация корня</a:t>
            </a:r>
          </a:p>
          <a:p>
            <a:r>
              <a:rPr lang="ru-RU" dirty="0"/>
              <a:t>3 Генерация уровней входного дерева</a:t>
            </a:r>
          </a:p>
          <a:p>
            <a:r>
              <a:rPr lang="ru-RU" dirty="0"/>
              <a:t>4 Подключение листьев к умножителям</a:t>
            </a:r>
          </a:p>
          <a:p>
            <a:r>
              <a:rPr lang="ru-RU" dirty="0"/>
              <a:t>5 Первая </a:t>
            </a:r>
            <a:r>
              <a:rPr lang="en-US" dirty="0"/>
              <a:t>MAC</a:t>
            </a:r>
            <a:endParaRPr lang="ru-RU" dirty="0"/>
          </a:p>
          <a:p>
            <a:r>
              <a:rPr lang="ru-RU" dirty="0"/>
              <a:t>6 Цепочка </a:t>
            </a:r>
            <a:r>
              <a:rPr lang="en-US" dirty="0"/>
              <a:t>MAC</a:t>
            </a:r>
            <a:endParaRPr lang="ru-RU" dirty="0"/>
          </a:p>
          <a:p>
            <a:r>
              <a:rPr lang="ru-RU" dirty="0"/>
              <a:t>7 Выход фильтра</a:t>
            </a:r>
          </a:p>
        </p:txBody>
      </p:sp>
    </p:spTree>
    <p:extLst>
      <p:ext uri="{BB962C8B-B14F-4D97-AF65-F5344CB8AC3E}">
        <p14:creationId xmlns:p14="http://schemas.microsoft.com/office/powerpoint/2010/main" val="205740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Подробнее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Создание массива под входное дерево (параметризация по </a:t>
            </a:r>
            <a:r>
              <a:rPr lang="en-US" dirty="0"/>
              <a:t>INPUT_TREE_STEP</a:t>
            </a:r>
            <a:r>
              <a:rPr lang="ru-RU" dirty="0"/>
              <a:t> - ветвление)</a:t>
            </a:r>
          </a:p>
          <a:p>
            <a:pPr lvl="1"/>
            <a:r>
              <a:rPr lang="en-US" sz="1800" dirty="0" err="1"/>
              <a:t>tree_node</a:t>
            </a:r>
            <a:r>
              <a:rPr lang="en-US" sz="1800" dirty="0"/>
              <a:t>[</a:t>
            </a:r>
            <a:r>
              <a:rPr lang="en-US" sz="1800" dirty="0" err="1"/>
              <a:t>lvl</a:t>
            </a:r>
            <a:r>
              <a:rPr lang="en-US" sz="1800" dirty="0"/>
              <a:t>][node] — </a:t>
            </a:r>
            <a:r>
              <a:rPr lang="ru-RU" sz="1800" dirty="0"/>
              <a:t>двумерный массив</a:t>
            </a:r>
          </a:p>
          <a:p>
            <a:pPr lvl="1"/>
            <a:r>
              <a:rPr lang="en-US" sz="1800" dirty="0" err="1"/>
              <a:t>lvl</a:t>
            </a:r>
            <a:r>
              <a:rPr lang="en-US" sz="1800" dirty="0"/>
              <a:t>: 0.</a:t>
            </a:r>
            <a:r>
              <a:rPr lang="ru-RU" sz="1800" dirty="0"/>
              <a:t>.</a:t>
            </a:r>
            <a:r>
              <a:rPr lang="en-US" sz="1800" dirty="0"/>
              <a:t>.INPUT_TREE_LEN-1 (</a:t>
            </a:r>
            <a:r>
              <a:rPr lang="ru-RU" sz="1800" dirty="0"/>
              <a:t>уровни)</a:t>
            </a:r>
          </a:p>
          <a:p>
            <a:pPr lvl="1"/>
            <a:r>
              <a:rPr lang="en-US" sz="1800" dirty="0"/>
              <a:t>node: 0…COEFF_NUM-1 (</a:t>
            </a:r>
            <a:r>
              <a:rPr lang="ru-RU" sz="1800" dirty="0"/>
              <a:t>максимум узлов на уровне)</a:t>
            </a:r>
          </a:p>
          <a:p>
            <a:r>
              <a:rPr lang="ru-RU" dirty="0"/>
              <a:t>2 Инициализация корня</a:t>
            </a:r>
          </a:p>
          <a:p>
            <a:pPr lvl="1"/>
            <a:r>
              <a:rPr lang="en-US" sz="1600" dirty="0" err="1"/>
              <a:t>tree_node</a:t>
            </a:r>
            <a:r>
              <a:rPr lang="en-US" sz="1600" dirty="0"/>
              <a:t>[0][0] &lt;= </a:t>
            </a:r>
            <a:r>
              <a:rPr lang="en-US" sz="1600" dirty="0" err="1"/>
              <a:t>signal_i</a:t>
            </a:r>
            <a:endParaRPr lang="ru-RU" sz="1600" dirty="0"/>
          </a:p>
          <a:p>
            <a:r>
              <a:rPr lang="ru-RU" dirty="0"/>
              <a:t>3 Генерация уровней входного дерева</a:t>
            </a:r>
          </a:p>
          <a:p>
            <a:pPr marL="457200" lvl="1" indent="0">
              <a:buNone/>
            </a:pPr>
            <a:r>
              <a:rPr lang="ru-RU" sz="1600" dirty="0"/>
              <a:t>для каждого </a:t>
            </a:r>
            <a:r>
              <a:rPr lang="en-US" sz="1600" dirty="0" err="1"/>
              <a:t>lvl</a:t>
            </a:r>
            <a:r>
              <a:rPr lang="en-US" sz="1600" dirty="0"/>
              <a:t> </a:t>
            </a:r>
            <a:r>
              <a:rPr lang="ru-RU" sz="1600" dirty="0"/>
              <a:t>от 1 до </a:t>
            </a:r>
            <a:r>
              <a:rPr lang="en-US" sz="1600" dirty="0"/>
              <a:t>INPUT_TREE_LEN-1:</a:t>
            </a:r>
          </a:p>
          <a:p>
            <a:pPr marL="457200" lvl="1" indent="0">
              <a:buNone/>
            </a:pPr>
            <a:r>
              <a:rPr lang="en-US" sz="1600" dirty="0"/>
              <a:t>    </a:t>
            </a:r>
            <a:r>
              <a:rPr lang="ru-RU" sz="1600" dirty="0"/>
              <a:t>для каждого </a:t>
            </a:r>
            <a:r>
              <a:rPr lang="en-US" sz="1600" dirty="0"/>
              <a:t>node </a:t>
            </a:r>
            <a:r>
              <a:rPr lang="ru-RU" sz="1600" dirty="0"/>
              <a:t>от 0 до </a:t>
            </a:r>
            <a:r>
              <a:rPr lang="en-US" sz="1600" dirty="0"/>
              <a:t>INPUT_TREE_WIDTH[</a:t>
            </a:r>
            <a:r>
              <a:rPr lang="en-US" sz="1600" dirty="0" err="1"/>
              <a:t>lvl</a:t>
            </a:r>
            <a:r>
              <a:rPr lang="en-US" sz="1600" dirty="0"/>
              <a:t>]-1:</a:t>
            </a:r>
          </a:p>
          <a:p>
            <a:pPr marL="457200" lvl="1" indent="0">
              <a:buNone/>
            </a:pPr>
            <a:r>
              <a:rPr lang="en-US" sz="1600" dirty="0"/>
              <a:t>        PARENT = node / INPUT_TREE_STEP</a:t>
            </a:r>
          </a:p>
          <a:p>
            <a:pPr marL="457200" lvl="1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tree_node</a:t>
            </a:r>
            <a:r>
              <a:rPr lang="en-US" sz="1600" dirty="0"/>
              <a:t>[</a:t>
            </a:r>
            <a:r>
              <a:rPr lang="en-US" sz="1600" dirty="0" err="1"/>
              <a:t>lvl</a:t>
            </a:r>
            <a:r>
              <a:rPr lang="en-US" sz="1600" dirty="0"/>
              <a:t>][node] &lt;= </a:t>
            </a:r>
            <a:r>
              <a:rPr lang="en-US" sz="1600" dirty="0" err="1"/>
              <a:t>tree_node</a:t>
            </a:r>
            <a:r>
              <a:rPr lang="en-US" sz="1600" dirty="0"/>
              <a:t>[lvl-1][PARENT]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42180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Подробнее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4 Подключение листьев к умножителям</a:t>
            </a:r>
          </a:p>
          <a:p>
            <a:pPr lvl="1"/>
            <a:r>
              <a:rPr lang="en-US" sz="1700" dirty="0" err="1"/>
              <a:t>x_tap</a:t>
            </a:r>
            <a:r>
              <a:rPr lang="en-US" sz="1700" dirty="0"/>
              <a:t>[</a:t>
            </a:r>
            <a:r>
              <a:rPr lang="en-US" sz="1700" dirty="0" err="1"/>
              <a:t>i</a:t>
            </a:r>
            <a:r>
              <a:rPr lang="en-US" sz="1700" dirty="0"/>
              <a:t>] = </a:t>
            </a:r>
            <a:r>
              <a:rPr lang="en-US" sz="1700" dirty="0" err="1"/>
              <a:t>tree_node</a:t>
            </a:r>
            <a:r>
              <a:rPr lang="en-US" sz="1700" dirty="0"/>
              <a:t>[INPUT_TREE_LEN-1][</a:t>
            </a:r>
            <a:r>
              <a:rPr lang="en-US" sz="1700" dirty="0" err="1"/>
              <a:t>i</a:t>
            </a:r>
            <a:r>
              <a:rPr lang="en-US" sz="1700" dirty="0"/>
              <a:t>],  </a:t>
            </a:r>
            <a:r>
              <a:rPr lang="en-US" sz="1700" dirty="0" err="1"/>
              <a:t>i</a:t>
            </a:r>
            <a:r>
              <a:rPr lang="en-US" sz="1700" dirty="0"/>
              <a:t> = 0..COEFF_NUM-1</a:t>
            </a:r>
            <a:endParaRPr lang="ru-RU" sz="1700" dirty="0"/>
          </a:p>
          <a:p>
            <a:r>
              <a:rPr lang="ru-RU" dirty="0"/>
              <a:t>5 Первая </a:t>
            </a:r>
            <a:r>
              <a:rPr lang="en-US" dirty="0"/>
              <a:t>MAC</a:t>
            </a:r>
            <a:endParaRPr lang="ru-RU" dirty="0"/>
          </a:p>
          <a:p>
            <a:pPr lvl="1"/>
            <a:r>
              <a:rPr lang="en-US" sz="1700" dirty="0" err="1"/>
              <a:t>mac_result</a:t>
            </a:r>
            <a:r>
              <a:rPr lang="en-US" sz="1700" dirty="0"/>
              <a:t>[0] = </a:t>
            </a:r>
            <a:r>
              <a:rPr lang="en-US" sz="1700" dirty="0" err="1"/>
              <a:t>x_tap</a:t>
            </a:r>
            <a:r>
              <a:rPr lang="en-US" sz="1700" dirty="0"/>
              <a:t>[0] * COEFFS[COEFF_NUM-1] + 0</a:t>
            </a:r>
            <a:endParaRPr lang="ru-RU" sz="1700" dirty="0"/>
          </a:p>
          <a:p>
            <a:r>
              <a:rPr lang="ru-RU" dirty="0"/>
              <a:t>6 Цепочка </a:t>
            </a:r>
            <a:r>
              <a:rPr lang="en-US" dirty="0"/>
              <a:t>MAC</a:t>
            </a:r>
            <a:endParaRPr lang="ru-RU" dirty="0"/>
          </a:p>
          <a:p>
            <a:pPr lvl="1"/>
            <a:r>
              <a:rPr lang="ru-RU" sz="1600" dirty="0"/>
              <a:t>  для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ru-RU" sz="1600" dirty="0"/>
              <a:t>от 1 до </a:t>
            </a:r>
            <a:r>
              <a:rPr lang="en-US" sz="1600" dirty="0"/>
              <a:t>COEFF_NUM-1:</a:t>
            </a:r>
          </a:p>
          <a:p>
            <a:pPr lvl="1"/>
            <a:r>
              <a:rPr lang="en-US" sz="1700" dirty="0"/>
              <a:t>    </a:t>
            </a:r>
            <a:r>
              <a:rPr lang="en-US" sz="1700" dirty="0" err="1"/>
              <a:t>mac_result</a:t>
            </a:r>
            <a:r>
              <a:rPr lang="en-US" sz="1700" dirty="0"/>
              <a:t>[</a:t>
            </a:r>
            <a:r>
              <a:rPr lang="en-US" sz="1700" dirty="0" err="1"/>
              <a:t>i</a:t>
            </a:r>
            <a:r>
              <a:rPr lang="en-US" sz="1700" dirty="0"/>
              <a:t>] = </a:t>
            </a:r>
            <a:r>
              <a:rPr lang="en-US" sz="1700" dirty="0" err="1"/>
              <a:t>x_tap</a:t>
            </a:r>
            <a:r>
              <a:rPr lang="en-US" sz="1700" dirty="0"/>
              <a:t>[</a:t>
            </a:r>
            <a:r>
              <a:rPr lang="en-US" sz="1700" dirty="0" err="1"/>
              <a:t>i</a:t>
            </a:r>
            <a:r>
              <a:rPr lang="en-US" sz="1700" dirty="0"/>
              <a:t>] * COEFFS[COEFF_NUM-1-i] + </a:t>
            </a:r>
            <a:r>
              <a:rPr lang="en-US" sz="1700" dirty="0" err="1"/>
              <a:t>delay_line</a:t>
            </a:r>
            <a:r>
              <a:rPr lang="en-US" sz="1700" dirty="0"/>
              <a:t>[i-1]</a:t>
            </a:r>
          </a:p>
          <a:p>
            <a:pPr lvl="1"/>
            <a:r>
              <a:rPr lang="en-US" sz="1700" dirty="0"/>
              <a:t>    </a:t>
            </a:r>
            <a:r>
              <a:rPr lang="ru-RU" sz="1700" dirty="0"/>
              <a:t>если </a:t>
            </a:r>
            <a:r>
              <a:rPr lang="en-US" sz="1700" dirty="0" err="1"/>
              <a:t>i</a:t>
            </a:r>
            <a:r>
              <a:rPr lang="en-US" sz="1700" dirty="0"/>
              <a:t> &lt; COEFF_NUM-1:</a:t>
            </a:r>
          </a:p>
          <a:p>
            <a:pPr lvl="1"/>
            <a:r>
              <a:rPr lang="en-US" sz="1700" dirty="0"/>
              <a:t>        </a:t>
            </a:r>
            <a:r>
              <a:rPr lang="en-US" sz="1700" dirty="0" err="1"/>
              <a:t>delay_line</a:t>
            </a:r>
            <a:r>
              <a:rPr lang="en-US" sz="1700" dirty="0"/>
              <a:t>[</a:t>
            </a:r>
            <a:r>
              <a:rPr lang="en-US" sz="1700" dirty="0" err="1"/>
              <a:t>i</a:t>
            </a:r>
            <a:r>
              <a:rPr lang="en-US" sz="1700" dirty="0"/>
              <a:t>] &lt;= </a:t>
            </a:r>
            <a:r>
              <a:rPr lang="en-US" sz="1700" dirty="0" err="1"/>
              <a:t>mac_result</a:t>
            </a:r>
            <a:r>
              <a:rPr lang="en-US" sz="1700" dirty="0"/>
              <a:t>[</a:t>
            </a:r>
            <a:r>
              <a:rPr lang="en-US" sz="1700" dirty="0" err="1"/>
              <a:t>i</a:t>
            </a:r>
            <a:r>
              <a:rPr lang="en-US" sz="1700" dirty="0"/>
              <a:t>]  // </a:t>
            </a:r>
            <a:r>
              <a:rPr lang="ru-RU" sz="1700" dirty="0"/>
              <a:t>регистр задержки</a:t>
            </a:r>
          </a:p>
          <a:p>
            <a:r>
              <a:rPr lang="ru-RU" dirty="0"/>
              <a:t>7 Выход фильтра</a:t>
            </a:r>
          </a:p>
          <a:p>
            <a:pPr lvl="1"/>
            <a:r>
              <a:rPr lang="en-US" sz="1600" dirty="0" err="1"/>
              <a:t>signal_o</a:t>
            </a:r>
            <a:r>
              <a:rPr lang="en-US" sz="1600" dirty="0"/>
              <a:t> = </a:t>
            </a:r>
            <a:r>
              <a:rPr lang="en-US" sz="1600" dirty="0" err="1"/>
              <a:t>mac_result</a:t>
            </a:r>
            <a:r>
              <a:rPr lang="en-US" sz="1600" dirty="0"/>
              <a:t>[COEFF_NUM-1]</a:t>
            </a:r>
            <a:endParaRPr lang="ru-RU" sz="16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3651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06" y="2717254"/>
            <a:ext cx="12144794" cy="8858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9840"/>
            <a:ext cx="11453120" cy="32439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506022"/>
            <a:ext cx="9733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 результате генерации для нашего случая видим структуру входного дерева: 1 – 4 – 32</a:t>
            </a:r>
          </a:p>
          <a:p>
            <a:endParaRPr lang="ru-RU" sz="2000" dirty="0"/>
          </a:p>
          <a:p>
            <a:r>
              <a:rPr lang="ru-RU" sz="2000" dirty="0"/>
              <a:t>(задержка – 2 такта)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32588"/>
            <a:ext cx="1519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От корня к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75831"/>
            <a:ext cx="26302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Далее от каждого по 8</a:t>
            </a:r>
          </a:p>
        </p:txBody>
      </p:sp>
    </p:spTree>
    <p:extLst>
      <p:ext uri="{BB962C8B-B14F-4D97-AF65-F5344CB8AC3E}">
        <p14:creationId xmlns:p14="http://schemas.microsoft.com/office/powerpoint/2010/main" val="4017975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10600"/>
            <a:ext cx="10515600" cy="1325563"/>
          </a:xfrm>
        </p:spPr>
        <p:txBody>
          <a:bodyPr/>
          <a:lstStyle/>
          <a:p>
            <a:r>
              <a:rPr lang="ru-RU" dirty="0"/>
              <a:t>Прохождение тестов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47B03D-D6EA-4E44-90B8-A775936F0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992"/>
            <a:ext cx="12192000" cy="564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658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1056</Words>
  <Application>Microsoft Office PowerPoint</Application>
  <PresentationFormat>Широкоэкранный</PresentationFormat>
  <Paragraphs>131</Paragraphs>
  <Slides>22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Menlo</vt:lpstr>
      <vt:lpstr>Тема Office</vt:lpstr>
      <vt:lpstr>Созвон 3</vt:lpstr>
      <vt:lpstr>Эталонная модель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Тестбенч</vt:lpstr>
      <vt:lpstr>Архитектура FIR-фильтра с деревом сумматоров</vt:lpstr>
      <vt:lpstr>Линия задержки и частичные произведения</vt:lpstr>
      <vt:lpstr>Параметризированное дерево сумматоров</vt:lpstr>
      <vt:lpstr>Прохождение тестов</vt:lpstr>
      <vt:lpstr>Реализация транспонированной структуры</vt:lpstr>
      <vt:lpstr>Подробнее</vt:lpstr>
      <vt:lpstr>Подробнее</vt:lpstr>
      <vt:lpstr>Анализ</vt:lpstr>
      <vt:lpstr>Прохождение тестов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Созвон 1</dc:title>
  <dc:creator>Hoffnung</dc:creator>
  <cp:lastModifiedBy>Hoffnung</cp:lastModifiedBy>
  <cp:revision>145</cp:revision>
  <dcterms:created xsi:type="dcterms:W3CDTF">2026-05-19T07:44:43Z</dcterms:created>
  <dcterms:modified xsi:type="dcterms:W3CDTF">2026-07-05T20:50:05Z</dcterms:modified>
</cp:coreProperties>
</file>