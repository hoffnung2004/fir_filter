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69" r:id="rId3"/>
    <p:sldId id="270" r:id="rId4"/>
    <p:sldId id="265" r:id="rId5"/>
    <p:sldId id="266" r:id="rId6"/>
    <p:sldId id="268" r:id="rId7"/>
    <p:sldId id="260" r:id="rId8"/>
    <p:sldId id="261" r:id="rId9"/>
    <p:sldId id="263" r:id="rId10"/>
    <p:sldId id="264" r:id="rId11"/>
    <p:sldId id="267" r:id="rId12"/>
    <p:sldId id="271" r:id="rId13"/>
    <p:sldId id="272" r:id="rId14"/>
    <p:sldId id="273" r:id="rId15"/>
    <p:sldId id="274" r:id="rId16"/>
    <p:sldId id="257" r:id="rId17"/>
    <p:sldId id="259" r:id="rId18"/>
    <p:sldId id="275" r:id="rId19"/>
    <p:sldId id="262" r:id="rId20"/>
    <p:sldId id="276" r:id="rId21"/>
    <p:sldId id="277" r:id="rId22"/>
    <p:sldId id="278" r:id="rId2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E9DCA2-93B1-4F31-8C3F-2A3DEA56900C}" type="datetimeFigureOut">
              <a:rPr lang="ru-RU" smtClean="0"/>
              <a:t>29.07.2026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202663-51D8-44ED-B6AE-ED96E10AD7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6504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9E210E-E36F-4ED9-BB13-1DE347C80A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85DF1E0-3F05-4445-8395-F5D3D78919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968F7CC-D7EE-4654-B609-1C108270D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A35A4-29E5-4EC8-8DB8-CE8F57E1CE6D}" type="datetime1">
              <a:rPr lang="ru-RU" smtClean="0"/>
              <a:t>29.07.2026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813806B-F2CD-40D3-8E07-51B56B7CD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BDDC38-DE25-4FDF-A6B8-7B2110404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E486-61CD-40DC-8F9F-F0566EFA55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5698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689026-216A-490E-8C62-D264B2A20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AEDB73-B487-408B-A4E4-BD120C6CA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88FB4B-BBB9-4F53-9313-78338CE99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F69E6-E3F7-4C17-99AD-54E99355F412}" type="datetime1">
              <a:rPr lang="ru-RU" smtClean="0"/>
              <a:t>29.07.2026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58B3CB-23D5-4BB2-A294-EB5A6E781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D31971B-9AF3-4065-B7D2-B266C90D9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E486-61CD-40DC-8F9F-F0566EFA55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3896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9A1817-FC41-4C54-B187-F9999A407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4E403C8-78C1-4EF2-86F7-564CDCE5A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AC396C2-6327-4C7D-AF5B-D841EC392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D3E1B-A06A-4B0E-8AA3-BED2FAC59313}" type="datetime1">
              <a:rPr lang="ru-RU" smtClean="0"/>
              <a:t>29.07.2026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790DC7-53C8-44FC-96BE-6FE8E5A2D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A83F86-762C-416F-9ACC-93F288DAA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E486-61CD-40DC-8F9F-F0566EFA55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2392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955652-5604-47D9-AB96-7137F55A4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86F4D0-E267-4FC6-A89C-D66CA61936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A592C34-2970-4577-8316-3F6E8539F0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91873B8-3FDA-43A5-94B0-9342E9AFF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669B0-E031-409D-B275-6D66F63FE2B0}" type="datetime1">
              <a:rPr lang="ru-RU" smtClean="0"/>
              <a:t>29.07.2026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01871B6-8C86-47AB-A792-45BA2AAC5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652E863-3248-452C-8944-D3DFA52D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E486-61CD-40DC-8F9F-F0566EFA55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8743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77707A-6E79-4F3B-9FF4-884E07D5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932A4F3-6C84-4334-B06F-1909E592A7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965359D-617C-411B-920A-C8CDB99245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F3C9141-8621-4086-A43E-9DE019DCBA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2CD4B5D-E59B-4719-AAEB-9F97023EB0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F8E4EC5-150C-4F20-AF67-24A3BC263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E7BE7-9C90-4F79-9517-A41625B3314D}" type="datetime1">
              <a:rPr lang="ru-RU" smtClean="0"/>
              <a:t>29.07.2026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34E330A-295A-42CD-8EA8-97032FC2B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12151DC-2DDB-4536-98FE-8E5105759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E486-61CD-40DC-8F9F-F0566EFA55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8125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3BE68B-1481-48E5-AE5D-11A115DB6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02B73A4-C1D5-4588-9835-9C0A194E1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B7437-9B1F-4E95-A4F7-FF89F7F3DCC5}" type="datetime1">
              <a:rPr lang="ru-RU" smtClean="0"/>
              <a:t>29.07.2026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5A2E3B-CFA0-405C-9457-218D6E109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98A2788-DFE1-44DC-8370-37EB4A5E9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E486-61CD-40DC-8F9F-F0566EFA55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0655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786F9D9-5F8A-4B63-BBFD-7E4E62F54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ACD90-1AAA-4A41-81EB-133F5DDE2F2E}" type="datetime1">
              <a:rPr lang="ru-RU" smtClean="0"/>
              <a:t>29.07.2026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7453757-EF97-49FD-9BDC-F02409313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C05C6F6-ED97-4FCE-A8B5-71FC3E8E1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E486-61CD-40DC-8F9F-F0566EFA55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0229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148C5F-ADEF-4D26-8618-D808F9EA1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E59A3CC-2366-4579-8558-49E3895E1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9B12524-F8B6-4E58-A735-8C6B95988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D52D54A-DE43-4A2C-8C33-2BC4ABF98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A73E3-550A-47C5-8089-F4BE4BC53980}" type="datetime1">
              <a:rPr lang="ru-RU" smtClean="0"/>
              <a:t>29.07.2026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161691F-4000-49EE-9CBD-0A6C5CF8B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12DB216-575B-46D9-A918-8110E285C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E486-61CD-40DC-8F9F-F0566EFA55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4284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8A396C-5AF8-4C36-BB69-81E226B1E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82C1A2C-BDC0-450E-8364-411BE9FDAE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EE3AFDC-A766-4FA6-B280-B83B001FD5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431E945-613A-4143-A818-A156212FD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D0C1A-DEAE-4E63-A592-7A4B22DCF8D3}" type="datetime1">
              <a:rPr lang="ru-RU" smtClean="0"/>
              <a:t>29.07.2026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01D5FDE-9469-4301-B05F-90E5EB5EC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8D0C240-7DBB-4104-944B-998476DE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E486-61CD-40DC-8F9F-F0566EFA55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6463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BF2BC8-97F7-4DE3-9558-1385B47CA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22C5682-4EE5-48E3-AB5F-40D745A5E2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E25D9A-39F8-4298-9699-D32CE6340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A5B84-A9AD-4C08-A191-44078E236BC8}" type="datetime1">
              <a:rPr lang="ru-RU" smtClean="0"/>
              <a:t>29.07.2026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5F74AF2-FA6A-4678-B1B1-7C9546F66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613EA2-9264-49C0-A2AA-E9E319ABC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E486-61CD-40DC-8F9F-F0566EFA55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3112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B686840-541A-40FB-81BE-E6164E193B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C0723DD-161B-4C1C-8E9F-00EB061D99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5F6598-C1EB-4204-946F-B84FA17B4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6663-6AFB-4638-A533-6DE3FC4288E4}" type="datetime1">
              <a:rPr lang="ru-RU" smtClean="0"/>
              <a:t>29.07.2026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A869D6-027C-42CB-BC45-EBD7E0B3F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8107EE9-2B32-4E4D-9837-193276C15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E486-61CD-40DC-8F9F-F0566EFA55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168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6A4265-BFE0-43AC-B00E-21889885F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B3BA7F-B072-46AD-A483-EE1723C5BC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810EA8D-59D2-4828-B018-2C26EF2EEE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0F5135-9C2B-45D8-99E6-40A3D7AD5073}" type="datetime1">
              <a:rPr lang="ru-RU" smtClean="0"/>
              <a:t>29.07.2026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59B5AB8-E2AC-4776-86DF-F4D8D95603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B15F86-9DD5-40F7-A922-050D21A3E9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C4E486-61CD-40DC-8F9F-F0566EFA55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7384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05BE84-4784-459F-9773-40F1098A82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err="1"/>
              <a:t>Созвон</a:t>
            </a:r>
            <a:r>
              <a:rPr lang="ru-RU" dirty="0"/>
              <a:t> 4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0DA386E-F8F3-4AFD-B1E8-DB3339E28C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1686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56106D-7231-413A-B98A-EE7BCAA7B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Сложение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3066FE34-7618-43B6-BCFB-4019792DDF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01447"/>
            <a:ext cx="7174584" cy="4991428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CC50217-E6B7-4EBB-8DDE-9BB860ABA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E486-61CD-40DC-8F9F-F0566EFA555C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910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AED7FAE-22E8-4E57-953F-AC06707B4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5777"/>
            <a:ext cx="12192000" cy="571548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56106D-7231-413A-B98A-EE7BCAA7B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Сложение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CC50217-E6B7-4EBB-8DDE-9BB860ABA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E486-61CD-40DC-8F9F-F0566EFA555C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044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916F8E-7451-492C-806D-66AA3F57B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Умножение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37892DEA-08D6-4B45-A399-8EEDC6409F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3240" y="681037"/>
            <a:ext cx="3530600" cy="3070086"/>
          </a:xfrm>
        </p:spPr>
      </p:pic>
      <p:sp>
        <p:nvSpPr>
          <p:cNvPr id="7" name="Объект 2">
            <a:extLst>
              <a:ext uri="{FF2B5EF4-FFF2-40B4-BE49-F238E27FC236}">
                <a16:creationId xmlns:a16="http://schemas.microsoft.com/office/drawing/2014/main" id="{DAF845E6-16BB-4A45-A68E-AFEB5203591F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166876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Конвейерная реализация</a:t>
            </a:r>
          </a:p>
          <a:p>
            <a:r>
              <a:rPr lang="ru-RU" dirty="0"/>
              <a:t>Использование кодирования Бута</a:t>
            </a:r>
          </a:p>
          <a:p>
            <a:r>
              <a:rPr lang="ru-RU" dirty="0"/>
              <a:t>Альтернативы будут рассмотрены</a:t>
            </a:r>
          </a:p>
          <a:p>
            <a:endParaRPr lang="ru-RU" dirty="0"/>
          </a:p>
          <a:p>
            <a:r>
              <a:rPr lang="en-US" dirty="0"/>
              <a:t>x</a:t>
            </a:r>
            <a:r>
              <a:rPr lang="en-US" baseline="-25000" dirty="0"/>
              <a:t>7</a:t>
            </a:r>
            <a:r>
              <a:rPr lang="en-US" dirty="0"/>
              <a:t> x</a:t>
            </a:r>
            <a:r>
              <a:rPr lang="en-US" baseline="-25000" dirty="0"/>
              <a:t>6</a:t>
            </a:r>
            <a:r>
              <a:rPr lang="en-US" dirty="0"/>
              <a:t> x</a:t>
            </a:r>
            <a:r>
              <a:rPr lang="en-US" baseline="-25000" dirty="0"/>
              <a:t>5</a:t>
            </a:r>
            <a:r>
              <a:rPr lang="en-US" dirty="0"/>
              <a:t> x</a:t>
            </a:r>
            <a:r>
              <a:rPr lang="en-US" baseline="-25000" dirty="0"/>
              <a:t>4</a:t>
            </a:r>
            <a:r>
              <a:rPr lang="en-US" dirty="0"/>
              <a:t> x</a:t>
            </a:r>
            <a:r>
              <a:rPr lang="en-US" baseline="-25000" dirty="0"/>
              <a:t>3</a:t>
            </a:r>
            <a:r>
              <a:rPr lang="en-US" dirty="0"/>
              <a:t> x</a:t>
            </a:r>
            <a:r>
              <a:rPr lang="en-US" baseline="-25000" dirty="0"/>
              <a:t>2</a:t>
            </a:r>
            <a:r>
              <a:rPr lang="en-US" dirty="0"/>
              <a:t> x</a:t>
            </a:r>
            <a:r>
              <a:rPr lang="en-US" baseline="-25000" dirty="0"/>
              <a:t>1</a:t>
            </a:r>
            <a:r>
              <a:rPr lang="en-US" dirty="0"/>
              <a:t> x</a:t>
            </a:r>
            <a:r>
              <a:rPr lang="en-US" baseline="-25000" dirty="0"/>
              <a:t>0</a:t>
            </a:r>
            <a:r>
              <a:rPr lang="en-US" dirty="0"/>
              <a:t> -&gt; x</a:t>
            </a:r>
            <a:r>
              <a:rPr lang="en-US" baseline="-25000" dirty="0"/>
              <a:t>7</a:t>
            </a:r>
            <a:r>
              <a:rPr lang="en-US" dirty="0"/>
              <a:t> x</a:t>
            </a:r>
            <a:r>
              <a:rPr lang="en-US" baseline="-25000" dirty="0"/>
              <a:t>6</a:t>
            </a:r>
            <a:r>
              <a:rPr lang="en-US" dirty="0"/>
              <a:t> x</a:t>
            </a:r>
            <a:r>
              <a:rPr lang="en-US" baseline="-25000" dirty="0"/>
              <a:t>5</a:t>
            </a:r>
            <a:r>
              <a:rPr lang="en-US" dirty="0"/>
              <a:t> x</a:t>
            </a:r>
            <a:r>
              <a:rPr lang="en-US" baseline="-25000" dirty="0"/>
              <a:t>4</a:t>
            </a:r>
            <a:r>
              <a:rPr lang="en-US" dirty="0"/>
              <a:t> x</a:t>
            </a:r>
            <a:r>
              <a:rPr lang="en-US" baseline="-25000" dirty="0"/>
              <a:t>3</a:t>
            </a:r>
            <a:r>
              <a:rPr lang="en-US" dirty="0"/>
              <a:t> x</a:t>
            </a:r>
            <a:r>
              <a:rPr lang="en-US" baseline="-25000" dirty="0"/>
              <a:t>2</a:t>
            </a:r>
            <a:r>
              <a:rPr lang="en-US" dirty="0"/>
              <a:t> x</a:t>
            </a:r>
            <a:r>
              <a:rPr lang="en-US" baseline="-25000" dirty="0"/>
              <a:t>1</a:t>
            </a:r>
            <a:r>
              <a:rPr lang="en-US" dirty="0"/>
              <a:t> x</a:t>
            </a:r>
            <a:r>
              <a:rPr lang="en-US" baseline="-25000" dirty="0"/>
              <a:t>0 </a:t>
            </a:r>
            <a:r>
              <a:rPr lang="en-US" dirty="0"/>
              <a:t>0 -&gt; </a:t>
            </a:r>
            <a:r>
              <a:rPr lang="ru-RU" dirty="0"/>
              <a:t>-2</a:t>
            </a:r>
            <a:r>
              <a:rPr lang="en-US" dirty="0"/>
              <a:t>x</a:t>
            </a:r>
            <a:r>
              <a:rPr lang="en-US" baseline="-25000" dirty="0"/>
              <a:t>i</a:t>
            </a:r>
            <a:r>
              <a:rPr lang="en-US" dirty="0"/>
              <a:t>+x</a:t>
            </a:r>
            <a:r>
              <a:rPr lang="en-US" baseline="-25000" dirty="0"/>
              <a:t>i-1</a:t>
            </a:r>
            <a:r>
              <a:rPr lang="en-US" dirty="0"/>
              <a:t>+x</a:t>
            </a:r>
            <a:r>
              <a:rPr lang="en-US" baseline="-25000" dirty="0"/>
              <a:t>i-2</a:t>
            </a:r>
          </a:p>
          <a:p>
            <a:r>
              <a:rPr lang="ru-RU" dirty="0"/>
              <a:t>-117 </a:t>
            </a:r>
            <a:r>
              <a:rPr lang="en-US" dirty="0"/>
              <a:t>-&gt; 10001011 -&gt;  100010110 -&gt; 100 001 101 110 -&gt;</a:t>
            </a:r>
          </a:p>
          <a:p>
            <a:r>
              <a:rPr lang="en-US" dirty="0"/>
              <a:t>-&gt; -2 1 -1 -1 -&gt; -2</a:t>
            </a:r>
            <a:r>
              <a:rPr lang="ru-RU" dirty="0"/>
              <a:t>⋅2</a:t>
            </a:r>
            <a:r>
              <a:rPr lang="en-US" baseline="30000" dirty="0"/>
              <a:t>6</a:t>
            </a:r>
            <a:r>
              <a:rPr lang="ru-RU" dirty="0"/>
              <a:t>+</a:t>
            </a:r>
            <a:r>
              <a:rPr lang="en-US" dirty="0"/>
              <a:t>1</a:t>
            </a:r>
            <a:r>
              <a:rPr lang="ru-RU" dirty="0"/>
              <a:t>⋅2</a:t>
            </a:r>
            <a:r>
              <a:rPr lang="en-US" baseline="30000" dirty="0"/>
              <a:t>4</a:t>
            </a:r>
            <a:r>
              <a:rPr lang="en-US" dirty="0"/>
              <a:t>-1</a:t>
            </a:r>
            <a:r>
              <a:rPr lang="ru-RU" dirty="0"/>
              <a:t>⋅2</a:t>
            </a:r>
            <a:r>
              <a:rPr lang="en-US" baseline="30000" dirty="0"/>
              <a:t>2</a:t>
            </a:r>
            <a:r>
              <a:rPr lang="en-US" dirty="0"/>
              <a:t>-1 = -128 + 16 - </a:t>
            </a:r>
            <a:r>
              <a:rPr lang="ru-RU" dirty="0"/>
              <a:t>4</a:t>
            </a:r>
            <a:r>
              <a:rPr lang="en-US" dirty="0"/>
              <a:t> - 1 =</a:t>
            </a:r>
            <a:r>
              <a:rPr lang="ru-RU" dirty="0"/>
              <a:t> -117</a:t>
            </a:r>
          </a:p>
          <a:p>
            <a:pPr marL="0" indent="0">
              <a:buNone/>
            </a:pPr>
            <a:r>
              <a:rPr lang="ru-RU" dirty="0"/>
              <a:t>Пусть мы умножаем на 53 -</a:t>
            </a:r>
            <a:r>
              <a:rPr lang="en-US" dirty="0"/>
              <a:t>&gt; 32 + 16 + 4 + 1 -&gt; 0110101</a:t>
            </a:r>
            <a:r>
              <a:rPr lang="ru-RU" dirty="0"/>
              <a:t> </a:t>
            </a:r>
            <a:r>
              <a:rPr lang="en-US" dirty="0"/>
              <a:t> </a:t>
            </a:r>
            <a:r>
              <a:rPr lang="ru-RU" dirty="0"/>
              <a:t>(1001011)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5801563C-4104-4127-9BF3-F6A6A1F207CC}"/>
              </a:ext>
            </a:extLst>
          </p:cNvPr>
          <p:cNvCxnSpPr>
            <a:cxnSpLocks/>
          </p:cNvCxnSpPr>
          <p:nvPr/>
        </p:nvCxnSpPr>
        <p:spPr>
          <a:xfrm flipH="1">
            <a:off x="6499153" y="4378515"/>
            <a:ext cx="97606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30336640-C652-457C-9F02-097735FAEB67}"/>
              </a:ext>
            </a:extLst>
          </p:cNvPr>
          <p:cNvCxnSpPr>
            <a:cxnSpLocks/>
          </p:cNvCxnSpPr>
          <p:nvPr/>
        </p:nvCxnSpPr>
        <p:spPr>
          <a:xfrm flipH="1">
            <a:off x="5772713" y="4459795"/>
            <a:ext cx="97606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F89EA6A4-2CA2-4D65-9F09-2C408901C165}"/>
              </a:ext>
            </a:extLst>
          </p:cNvPr>
          <p:cNvCxnSpPr>
            <a:cxnSpLocks/>
          </p:cNvCxnSpPr>
          <p:nvPr/>
        </p:nvCxnSpPr>
        <p:spPr>
          <a:xfrm flipH="1">
            <a:off x="5127553" y="4378515"/>
            <a:ext cx="97606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B672AF35-80CE-4E6A-A66B-1A479EECCAEE}"/>
              </a:ext>
            </a:extLst>
          </p:cNvPr>
          <p:cNvCxnSpPr>
            <a:cxnSpLocks/>
          </p:cNvCxnSpPr>
          <p:nvPr/>
        </p:nvCxnSpPr>
        <p:spPr>
          <a:xfrm flipH="1">
            <a:off x="4370633" y="4459795"/>
            <a:ext cx="97606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8908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60E032-401B-4BF2-9C25-FA3540B0D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Умножение</a:t>
            </a:r>
          </a:p>
        </p:txBody>
      </p:sp>
      <p:graphicFrame>
        <p:nvGraphicFramePr>
          <p:cNvPr id="5" name="Таблица 5">
            <a:extLst>
              <a:ext uri="{FF2B5EF4-FFF2-40B4-BE49-F238E27FC236}">
                <a16:creationId xmlns:a16="http://schemas.microsoft.com/office/drawing/2014/main" id="{FB33623B-E3B5-452D-85F1-25094AD2EE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2582464"/>
              </p:ext>
            </p:extLst>
          </p:nvPr>
        </p:nvGraphicFramePr>
        <p:xfrm>
          <a:off x="838200" y="1825625"/>
          <a:ext cx="10515600" cy="3337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01040">
                  <a:extLst>
                    <a:ext uri="{9D8B030D-6E8A-4147-A177-3AD203B41FA5}">
                      <a16:colId xmlns:a16="http://schemas.microsoft.com/office/drawing/2014/main" val="3648464961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449378103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1222547599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642251835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3337404972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3328478373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1257100695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3140713384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1333575837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3334984770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778135277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3270726390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3247071045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932833379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1182738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5719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4531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7524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9715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2455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9031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171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9294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07161"/>
                  </a:ext>
                </a:extLst>
              </a:tr>
            </a:tbl>
          </a:graphicData>
        </a:graphic>
      </p:graphicFrame>
      <p:sp>
        <p:nvSpPr>
          <p:cNvPr id="6" name="Объект 2">
            <a:extLst>
              <a:ext uri="{FF2B5EF4-FFF2-40B4-BE49-F238E27FC236}">
                <a16:creationId xmlns:a16="http://schemas.microsoft.com/office/drawing/2014/main" id="{8F6B5948-D33B-4A1E-B05A-7A67C670C716}"/>
              </a:ext>
            </a:extLst>
          </p:cNvPr>
          <p:cNvSpPr txBox="1">
            <a:spLocks/>
          </p:cNvSpPr>
          <p:nvPr/>
        </p:nvSpPr>
        <p:spPr>
          <a:xfrm>
            <a:off x="838200" y="5432425"/>
            <a:ext cx="11038840" cy="132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Получили -6201 = -117∙53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Это вообще нужно рассказывать?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1737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1EE4AC4-D844-4F76-B1AC-AF211A3DB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551"/>
            <a:ext cx="12192000" cy="571548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5C2DF6-8E87-496D-AFAF-E2A01F591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Умножение</a:t>
            </a:r>
          </a:p>
        </p:txBody>
      </p:sp>
    </p:spTree>
    <p:extLst>
      <p:ext uri="{BB962C8B-B14F-4D97-AF65-F5344CB8AC3E}">
        <p14:creationId xmlns:p14="http://schemas.microsoft.com/office/powerpoint/2010/main" val="1699192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КИХ-фильтр</a:t>
            </a:r>
          </a:p>
        </p:txBody>
      </p:sp>
      <p:pic>
        <p:nvPicPr>
          <p:cNvPr id="11" name="Объект 10">
            <a:extLst>
              <a:ext uri="{FF2B5EF4-FFF2-40B4-BE49-F238E27FC236}">
                <a16:creationId xmlns:a16="http://schemas.microsoft.com/office/drawing/2014/main" id="{91D893DA-9836-4B93-9B3E-9103445DF3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10197166" cy="4314186"/>
          </a:xfrm>
        </p:spPr>
      </p:pic>
    </p:spTree>
    <p:extLst>
      <p:ext uri="{BB962C8B-B14F-4D97-AF65-F5344CB8AC3E}">
        <p14:creationId xmlns:p14="http://schemas.microsoft.com/office/powerpoint/2010/main" val="4017975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КИХ-фильтр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E59F0BEC-897E-4125-B6FF-4AA170E697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663" y="2243580"/>
            <a:ext cx="11539477" cy="3431356"/>
          </a:xfrm>
        </p:spPr>
      </p:pic>
    </p:spTree>
    <p:extLst>
      <p:ext uri="{BB962C8B-B14F-4D97-AF65-F5344CB8AC3E}">
        <p14:creationId xmlns:p14="http://schemas.microsoft.com/office/powerpoint/2010/main" val="3144833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33F0C0A-B1B6-4251-BB89-4C4AA15D5D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820" y="1457511"/>
            <a:ext cx="9916758" cy="489884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D0EF44-6727-4D5A-91D9-6E294E248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Полифазный фильтр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FFA138D-A967-40EE-8383-966B95CD5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E486-61CD-40DC-8F9F-F0566EFA555C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3731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292686B-08A7-43F9-93E6-4CE4096CE9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820" y="1457510"/>
            <a:ext cx="9908357" cy="490299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D0EF44-6727-4D5A-91D9-6E294E248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Полифазный фильтр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FFA138D-A967-40EE-8383-966B95CD5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E486-61CD-40DC-8F9F-F0566EFA555C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1728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88614CA-D809-4FAF-8ACC-9AACEF6AC2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820" y="1462787"/>
            <a:ext cx="9908357" cy="490299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D0EF44-6727-4D5A-91D9-6E294E248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Полифазный фильтр</a:t>
            </a:r>
            <a:r>
              <a:rPr lang="en-US" dirty="0"/>
              <a:t> (</a:t>
            </a:r>
            <a:r>
              <a:rPr lang="ru-RU" dirty="0"/>
              <a:t>исправление)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FFA138D-A967-40EE-8383-966B95CD5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E486-61CD-40DC-8F9F-F0566EFA555C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06058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37684C5-9D47-4594-BCBF-41AE8F8D3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551"/>
            <a:ext cx="12192000" cy="571548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AAB59F-BF83-46E4-90D8-A8DAA2F14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Полифазный фильтр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5D77CC9-8004-4940-820B-ED2CA1D02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E486-61CD-40DC-8F9F-F0566EFA555C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1559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B7E9458-57A0-4559-A9F4-5A6563F73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0830" y="1282045"/>
            <a:ext cx="11894361" cy="557595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AAB59F-BF83-46E4-90D8-A8DAA2F14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Полифазный фильтр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5D77CC9-8004-4940-820B-ED2CA1D02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E486-61CD-40DC-8F9F-F0566EFA555C}" type="slidenum">
              <a:rPr lang="ru-RU" smtClean="0"/>
              <a:t>13</a:t>
            </a:fld>
            <a:endParaRPr lang="ru-RU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7352D963-4788-4AC9-A6D0-12E4CC831F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E3D9ECE-4E5A-4067-B3EE-F110624819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3504" y="263951"/>
            <a:ext cx="4931997" cy="2538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4449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AAB59F-BF83-46E4-90D8-A8DAA2F14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Полифазный фильтр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5D77CC9-8004-4940-820B-ED2CA1D02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E486-61CD-40DC-8F9F-F0566EFA555C}" type="slidenum">
              <a:rPr lang="ru-RU" smtClean="0"/>
              <a:t>14</a:t>
            </a:fld>
            <a:endParaRPr lang="ru-RU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7352D963-4788-4AC9-A6D0-12E4CC831F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4049E70-E09B-4713-A8EF-30B0F68F9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87106" y="1286139"/>
            <a:ext cx="11885629" cy="5571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3501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8A7FFD5-AA04-4CCA-9448-EF5A0B0B3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5777"/>
            <a:ext cx="12192000" cy="571548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AAB59F-BF83-46E4-90D8-A8DAA2F14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Полифазный фильтр (дерево сумматоров)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5D77CC9-8004-4940-820B-ED2CA1D02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E486-61CD-40DC-8F9F-F0566EFA555C}" type="slidenum">
              <a:rPr lang="ru-RU" smtClean="0"/>
              <a:t>15</a:t>
            </a:fld>
            <a:endParaRPr lang="ru-RU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7352D963-4788-4AC9-A6D0-12E4CC831F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22492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60648"/>
            <a:ext cx="10972800" cy="1143000"/>
          </a:xfrm>
        </p:spPr>
        <p:txBody>
          <a:bodyPr>
            <a:normAutofit/>
          </a:bodyPr>
          <a:lstStyle/>
          <a:p>
            <a:r>
              <a:rPr lang="ru-RU" sz="4800" dirty="0"/>
              <a:t>Обзор архитектур сумматоров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3392" y="1412776"/>
            <a:ext cx="10972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/>
              <a:t>Сумматор с последовательным переносом (</a:t>
            </a:r>
            <a:r>
              <a:rPr lang="ru-RU" sz="2400" b="1" dirty="0" err="1"/>
              <a:t>Ripple</a:t>
            </a:r>
            <a:r>
              <a:rPr lang="ru-RU" sz="2400" b="1" dirty="0"/>
              <a:t> </a:t>
            </a:r>
            <a:r>
              <a:rPr lang="ru-RU" sz="2400" b="1" dirty="0" err="1"/>
              <a:t>Carry</a:t>
            </a:r>
            <a:r>
              <a:rPr lang="ru-RU" sz="2400" b="1" dirty="0"/>
              <a:t> </a:t>
            </a:r>
            <a:r>
              <a:rPr lang="ru-RU" sz="2400" b="1" dirty="0" err="1"/>
              <a:t>Adder</a:t>
            </a:r>
            <a:r>
              <a:rPr lang="ru-RU" sz="2400" b="1" dirty="0"/>
              <a:t> — RCA)</a:t>
            </a:r>
          </a:p>
          <a:p>
            <a:pPr marL="0" indent="0">
              <a:buNone/>
            </a:pPr>
            <a:endParaRPr lang="ru-RU" sz="2133" b="1" dirty="0"/>
          </a:p>
          <a:p>
            <a:endParaRPr lang="ru-RU" sz="2133" dirty="0"/>
          </a:p>
        </p:txBody>
      </p:sp>
      <p:pic>
        <p:nvPicPr>
          <p:cNvPr id="6" name="Объект 3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43607" y="2132856"/>
            <a:ext cx="6336476" cy="2928325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3311691" y="5091483"/>
            <a:ext cx="6096000" cy="6669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867" i="1" dirty="0"/>
              <a:t>Рис. 1. Цепь переноса сумматора RCA на мультиплексорах</a:t>
            </a:r>
            <a:endParaRPr lang="ru-RU" sz="1867" dirty="0"/>
          </a:p>
        </p:txBody>
      </p:sp>
    </p:spTree>
    <p:extLst>
      <p:ext uri="{BB962C8B-B14F-4D97-AF65-F5344CB8AC3E}">
        <p14:creationId xmlns:p14="http://schemas.microsoft.com/office/powerpoint/2010/main" val="21735023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800" dirty="0"/>
              <a:t>Обзор архитектур сумматоров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9600" y="1340768"/>
            <a:ext cx="10972800" cy="51845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133" b="1" dirty="0"/>
              <a:t>Сумматор с обходом переноса (</a:t>
            </a:r>
            <a:r>
              <a:rPr lang="en-US" sz="2133" b="1" dirty="0"/>
              <a:t>Carry-Skip / Carry-Bypass Adder)</a:t>
            </a:r>
          </a:p>
          <a:p>
            <a:pPr marL="0" indent="0">
              <a:buNone/>
            </a:pPr>
            <a:r>
              <a:rPr lang="ru-RU" sz="2133" dirty="0"/>
              <a:t>Групповой сигнал распространения формируется как логическое И поразрядных сигналов, вычисленных на предыдущем шаге:</a:t>
            </a:r>
          </a:p>
          <a:p>
            <a:pPr marL="0" indent="0">
              <a:buNone/>
            </a:pPr>
            <a:r>
              <a:rPr lang="en-US" sz="2133" i="1" dirty="0"/>
              <a:t>P = </a:t>
            </a:r>
            <a:r>
              <a:rPr lang="en-US" sz="2133" i="1" dirty="0" err="1"/>
              <a:t>p_i</a:t>
            </a:r>
            <a:r>
              <a:rPr lang="en-US" sz="2133" i="1" dirty="0"/>
              <a:t> · p_(i+1) · p_(i+2) · … · p_(i+k−1)</a:t>
            </a:r>
            <a:endParaRPr lang="ru-RU" sz="2133" i="1" dirty="0"/>
          </a:p>
          <a:p>
            <a:pPr marL="0" indent="0">
              <a:buNone/>
            </a:pPr>
            <a:endParaRPr lang="ru-RU" sz="5333" dirty="0"/>
          </a:p>
          <a:p>
            <a:endParaRPr lang="en-US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Объект 3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63552" y="3140968"/>
            <a:ext cx="7008779" cy="2376264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3713639" y="5637246"/>
            <a:ext cx="4228776" cy="954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867" i="1" dirty="0"/>
              <a:t>Рис. 2. Структура сумматора с обходом переноса: N разрядов, k разрядов в группе, r = N/k групп.]</a:t>
            </a:r>
            <a:endParaRPr lang="ru-RU" sz="1867" dirty="0"/>
          </a:p>
        </p:txBody>
      </p:sp>
    </p:spTree>
    <p:extLst>
      <p:ext uri="{BB962C8B-B14F-4D97-AF65-F5344CB8AC3E}">
        <p14:creationId xmlns:p14="http://schemas.microsoft.com/office/powerpoint/2010/main" val="39891714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800" dirty="0"/>
              <a:t>Обзор архитектур сумматоров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3392" y="1340769"/>
            <a:ext cx="109728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133" b="1" dirty="0"/>
              <a:t>Сумматор с параллельным ускоренным переносом </a:t>
            </a:r>
            <a:r>
              <a:rPr lang="en-US" sz="2133" b="1" dirty="0"/>
              <a:t>(Carry-</a:t>
            </a:r>
            <a:r>
              <a:rPr lang="en-US" sz="2133" b="1" dirty="0" err="1"/>
              <a:t>Lookahead</a:t>
            </a:r>
            <a:r>
              <a:rPr lang="en-US" sz="2133" b="1" dirty="0"/>
              <a:t> Adder — CLA</a:t>
            </a:r>
            <a:r>
              <a:rPr lang="ru-RU" sz="2133" dirty="0"/>
              <a:t>)</a:t>
            </a:r>
          </a:p>
          <a:p>
            <a:pPr marL="0" indent="0">
              <a:buNone/>
            </a:pPr>
            <a:endParaRPr lang="ru-RU" sz="2133" dirty="0"/>
          </a:p>
          <a:p>
            <a:pPr marL="0" indent="0">
              <a:buNone/>
            </a:pPr>
            <a:r>
              <a:rPr lang="ru-RU" sz="2133" dirty="0"/>
              <a:t>Сумматор, вычисляющий переносы для всех разрядов одновременно без ожидания прохождения переноса через предыдущие каскады.</a:t>
            </a:r>
          </a:p>
          <a:p>
            <a:pPr marL="0" indent="0">
              <a:buNone/>
            </a:pPr>
            <a:r>
              <a:rPr lang="ru-RU" sz="2133" dirty="0"/>
              <a:t>Формула переноса раскрывается аналитически:</a:t>
            </a:r>
          </a:p>
          <a:p>
            <a:endParaRPr lang="ru-RU" sz="2133" dirty="0"/>
          </a:p>
          <a:p>
            <a:endParaRPr lang="ru-RU" sz="2133" dirty="0"/>
          </a:p>
          <a:p>
            <a:endParaRPr lang="ru-RU" sz="2133" dirty="0"/>
          </a:p>
          <a:p>
            <a:endParaRPr lang="ru-RU" sz="2133" dirty="0"/>
          </a:p>
          <a:p>
            <a:endParaRPr lang="ru-RU" sz="2133" dirty="0"/>
          </a:p>
          <a:p>
            <a:pPr marL="0" indent="0">
              <a:buNone/>
            </a:pPr>
            <a:endParaRPr lang="ru-RU" sz="2133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87755" y="3908188"/>
            <a:ext cx="4512501" cy="100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6566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19403" y="764704"/>
            <a:ext cx="10972800" cy="1143000"/>
          </a:xfrm>
        </p:spPr>
        <p:txBody>
          <a:bodyPr>
            <a:noAutofit/>
          </a:bodyPr>
          <a:lstStyle/>
          <a:p>
            <a:r>
              <a:rPr lang="ru-RU" sz="4267" dirty="0"/>
              <a:t>Параллельные префиксные сумматоры: Оператор префикса</a:t>
            </a:r>
            <a:br>
              <a:rPr lang="ru-RU" sz="4267" b="1" dirty="0"/>
            </a:br>
            <a:endParaRPr lang="ru-RU" sz="4267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u-RU" sz="2133" b="1" dirty="0"/>
              <a:t>Теория параллельного префиксного сложения</a:t>
            </a:r>
          </a:p>
          <a:p>
            <a:pPr marL="0" indent="0">
              <a:buNone/>
            </a:pPr>
            <a:r>
              <a:rPr lang="ru-RU" sz="2133" dirty="0"/>
              <a:t>Математический подход, преобразующий вычисление переносов в ассоциативную операцию над парами сгенерированных и распространенных переносов (g, p).</a:t>
            </a:r>
          </a:p>
          <a:p>
            <a:pPr marL="0" indent="0">
              <a:buNone/>
            </a:pPr>
            <a:r>
              <a:rPr lang="ru-RU" sz="2133" dirty="0"/>
              <a:t>Ассоциативный префиксный оператор :</a:t>
            </a:r>
            <a:endParaRPr lang="en-US" sz="2133" dirty="0"/>
          </a:p>
          <a:p>
            <a:pPr marL="0" indent="0">
              <a:buNone/>
            </a:pPr>
            <a:r>
              <a:rPr lang="en-US" sz="2133" i="1" dirty="0"/>
              <a:t>(</a:t>
            </a:r>
            <a:r>
              <a:rPr lang="en-US" sz="2133" i="1" dirty="0" err="1"/>
              <a:t>g_L</a:t>
            </a:r>
            <a:r>
              <a:rPr lang="en-US" sz="2133" i="1" dirty="0"/>
              <a:t>, </a:t>
            </a:r>
            <a:r>
              <a:rPr lang="en-US" sz="2133" i="1" dirty="0" err="1"/>
              <a:t>p_L</a:t>
            </a:r>
            <a:r>
              <a:rPr lang="en-US" sz="2133" i="1" dirty="0"/>
              <a:t>) </a:t>
            </a:r>
            <a:r>
              <a:rPr lang="en-US" sz="2133" dirty="0"/>
              <a:t>*</a:t>
            </a:r>
            <a:r>
              <a:rPr lang="en-US" sz="2133" i="1" dirty="0"/>
              <a:t> (</a:t>
            </a:r>
            <a:r>
              <a:rPr lang="en-US" sz="2133" i="1" dirty="0" err="1"/>
              <a:t>g_R</a:t>
            </a:r>
            <a:r>
              <a:rPr lang="en-US" sz="2133" i="1" dirty="0"/>
              <a:t>, </a:t>
            </a:r>
            <a:r>
              <a:rPr lang="en-US" sz="2133" i="1" dirty="0" err="1"/>
              <a:t>p_R</a:t>
            </a:r>
            <a:r>
              <a:rPr lang="en-US" sz="2133" i="1" dirty="0"/>
              <a:t>) = (</a:t>
            </a:r>
            <a:r>
              <a:rPr lang="en-US" sz="2133" i="1" dirty="0" err="1"/>
              <a:t>g_L</a:t>
            </a:r>
            <a:r>
              <a:rPr lang="en-US" sz="2133" i="1" dirty="0"/>
              <a:t> + </a:t>
            </a:r>
            <a:r>
              <a:rPr lang="en-US" sz="2133" i="1" dirty="0" err="1"/>
              <a:t>p_L</a:t>
            </a:r>
            <a:r>
              <a:rPr lang="en-US" sz="2133" i="1" dirty="0"/>
              <a:t> · </a:t>
            </a:r>
            <a:r>
              <a:rPr lang="en-US" sz="2133" i="1" dirty="0" err="1"/>
              <a:t>g_R</a:t>
            </a:r>
            <a:r>
              <a:rPr lang="en-US" sz="2133" i="1" dirty="0"/>
              <a:t>,   </a:t>
            </a:r>
            <a:r>
              <a:rPr lang="en-US" sz="2133" i="1" dirty="0" err="1"/>
              <a:t>p_L</a:t>
            </a:r>
            <a:r>
              <a:rPr lang="en-US" sz="2133" i="1" dirty="0"/>
              <a:t> · </a:t>
            </a:r>
            <a:r>
              <a:rPr lang="en-US" sz="2133" i="1" dirty="0" err="1"/>
              <a:t>p_R</a:t>
            </a:r>
            <a:r>
              <a:rPr lang="en-US" sz="2133" i="1" dirty="0"/>
              <a:t>)</a:t>
            </a:r>
            <a:endParaRPr lang="ru-RU" sz="2133" i="1" dirty="0"/>
          </a:p>
          <a:p>
            <a:pPr marL="0" indent="0">
              <a:buNone/>
            </a:pPr>
            <a:endParaRPr lang="ru-RU" sz="2133" dirty="0"/>
          </a:p>
          <a:p>
            <a:r>
              <a:rPr lang="ru-RU" sz="2133" dirty="0"/>
              <a:t>Граф состоит из 3 этапов:</a:t>
            </a:r>
          </a:p>
          <a:p>
            <a:pPr lvl="1"/>
            <a:r>
              <a:rPr lang="en-US" sz="2133" b="1" dirty="0"/>
              <a:t>Pre-processing</a:t>
            </a:r>
            <a:endParaRPr lang="en-US" sz="2133" dirty="0"/>
          </a:p>
          <a:p>
            <a:pPr lvl="1"/>
            <a:r>
              <a:rPr lang="en-US" sz="2133" b="1" dirty="0"/>
              <a:t>Prefix tree</a:t>
            </a:r>
            <a:endParaRPr lang="ru-RU" sz="2133" dirty="0"/>
          </a:p>
          <a:p>
            <a:pPr lvl="1"/>
            <a:r>
              <a:rPr lang="en-US" sz="2133" b="1" dirty="0"/>
              <a:t>Post-processing</a:t>
            </a:r>
            <a:endParaRPr lang="ru-RU" dirty="0"/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1890576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3392" y="188640"/>
            <a:ext cx="10972800" cy="1143000"/>
          </a:xfrm>
        </p:spPr>
        <p:txBody>
          <a:bodyPr>
            <a:normAutofit/>
          </a:bodyPr>
          <a:lstStyle/>
          <a:p>
            <a:r>
              <a:rPr lang="ru-RU" sz="4267" dirty="0"/>
              <a:t>Параллельные префиксные сумматоры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27382" y="1220755"/>
            <a:ext cx="11425269" cy="418418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b="1" dirty="0"/>
              <a:t>Сумматор </a:t>
            </a:r>
            <a:r>
              <a:rPr lang="ru-RU" sz="2000" b="1" dirty="0" err="1"/>
              <a:t>Когги</a:t>
            </a:r>
            <a:r>
              <a:rPr lang="ru-RU" sz="2000" b="1" dirty="0"/>
              <a:t>-Стоуна (</a:t>
            </a:r>
            <a:r>
              <a:rPr lang="ru-RU" sz="2000" b="1" dirty="0" err="1"/>
              <a:t>Kogge-Stone</a:t>
            </a:r>
            <a:r>
              <a:rPr lang="ru-RU" sz="2000" b="1" dirty="0"/>
              <a:t> </a:t>
            </a:r>
            <a:r>
              <a:rPr lang="ru-RU" sz="2000" b="1" dirty="0" err="1"/>
              <a:t>Adder</a:t>
            </a:r>
            <a:r>
              <a:rPr lang="ru-RU" sz="2000" b="1" dirty="0"/>
              <a:t>)</a:t>
            </a:r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r>
              <a:rPr lang="ru-RU" sz="2000" dirty="0"/>
              <a:t>На каждом уровне k сигнал передается на расстояние 2^k разрядов.</a:t>
            </a:r>
          </a:p>
          <a:p>
            <a:pPr marL="0" indent="0">
              <a:buNone/>
            </a:pPr>
            <a:r>
              <a:rPr lang="ru-RU" sz="2000" dirty="0"/>
              <a:t>Логическая глубина (число уровней) составляет всего log_2 N.</a:t>
            </a:r>
          </a:p>
          <a:p>
            <a:pPr marL="0" indent="0">
              <a:buNone/>
            </a:pPr>
            <a:endParaRPr lang="ru-RU" sz="2000" dirty="0"/>
          </a:p>
          <a:p>
            <a:endParaRPr lang="ru-RU" sz="20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9670" y="3550259"/>
            <a:ext cx="5135893" cy="2376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3812829" y="5897264"/>
            <a:ext cx="3249800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867" i="1" dirty="0"/>
              <a:t>Рис. 3 </a:t>
            </a:r>
            <a:r>
              <a:rPr lang="en-US" sz="1867" i="1" dirty="0" err="1"/>
              <a:t>Kogge</a:t>
            </a:r>
            <a:r>
              <a:rPr lang="en-US" sz="1867" i="1" dirty="0"/>
              <a:t>-Stone Adder (KSA</a:t>
            </a:r>
            <a:r>
              <a:rPr lang="ru-RU" sz="1867" i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369419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581488" y="1303304"/>
            <a:ext cx="11610513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133" b="1" dirty="0"/>
              <a:t>Сумматор </a:t>
            </a:r>
            <a:r>
              <a:rPr lang="ru-RU" sz="2133" b="1" dirty="0" err="1"/>
              <a:t>Брента-Кунга</a:t>
            </a:r>
            <a:r>
              <a:rPr lang="ru-RU" sz="2133" b="1" dirty="0"/>
              <a:t> (</a:t>
            </a:r>
            <a:r>
              <a:rPr lang="ru-RU" sz="2133" b="1" dirty="0" err="1"/>
              <a:t>Brent-Kung</a:t>
            </a:r>
            <a:r>
              <a:rPr lang="ru-RU" sz="2133" b="1" dirty="0"/>
              <a:t> </a:t>
            </a:r>
            <a:r>
              <a:rPr lang="ru-RU" sz="2133" b="1" dirty="0" err="1"/>
              <a:t>Adder</a:t>
            </a:r>
            <a:r>
              <a:rPr lang="ru-RU" sz="2133" b="1" dirty="0"/>
              <a:t>)</a:t>
            </a:r>
          </a:p>
          <a:p>
            <a:pPr marL="0" indent="0">
              <a:buNone/>
            </a:pPr>
            <a:endParaRPr lang="ru-RU" sz="2133" b="1" dirty="0"/>
          </a:p>
          <a:p>
            <a:pPr marL="0" indent="0">
              <a:buNone/>
            </a:pPr>
            <a:r>
              <a:rPr lang="ru-RU" sz="2133" dirty="0"/>
              <a:t>Число префиксных узлов снижается до O(N) (в отличие от O(N log_2 N) у </a:t>
            </a:r>
            <a:r>
              <a:rPr lang="ru-RU" sz="2133" dirty="0" err="1"/>
              <a:t>Kogge-Stone</a:t>
            </a:r>
            <a:r>
              <a:rPr lang="ru-RU" sz="2133" dirty="0"/>
              <a:t>).</a:t>
            </a:r>
          </a:p>
          <a:p>
            <a:pPr marL="0" indent="0">
              <a:buNone/>
            </a:pPr>
            <a:r>
              <a:rPr lang="ru-RU" sz="2133" dirty="0"/>
              <a:t>Логическая глубина составляет 2log_2 N - 1.</a:t>
            </a:r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582820" y="164637"/>
            <a:ext cx="10972800" cy="1143000"/>
          </a:xfrm>
        </p:spPr>
        <p:txBody>
          <a:bodyPr>
            <a:normAutofit/>
          </a:bodyPr>
          <a:lstStyle/>
          <a:p>
            <a:r>
              <a:rPr lang="ru-RU" sz="4267" dirty="0"/>
              <a:t>Параллельные префиксные сумматоры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8182" y="3621022"/>
            <a:ext cx="4373793" cy="2208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8608950" y="5912113"/>
            <a:ext cx="2551211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867" i="1" dirty="0"/>
              <a:t>Рис. 4 </a:t>
            </a:r>
            <a:r>
              <a:rPr lang="ru-RU" sz="1867" i="1" dirty="0" err="1"/>
              <a:t>Brent-Kung</a:t>
            </a:r>
            <a:r>
              <a:rPr lang="ru-RU" sz="1867" i="1" dirty="0"/>
              <a:t> </a:t>
            </a:r>
            <a:r>
              <a:rPr lang="ru-RU" sz="1867" i="1" dirty="0" err="1"/>
              <a:t>Adder</a:t>
            </a:r>
            <a:endParaRPr lang="ru-RU" sz="1867" i="1" dirty="0"/>
          </a:p>
        </p:txBody>
      </p:sp>
      <p:sp>
        <p:nvSpPr>
          <p:cNvPr id="1029" name="TextBox 1028"/>
          <p:cNvSpPr txBox="1"/>
          <p:nvPr/>
        </p:nvSpPr>
        <p:spPr>
          <a:xfrm>
            <a:off x="527381" y="2887803"/>
            <a:ext cx="4909723" cy="3374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rPr lang="ru-RU" sz="2133" dirty="0"/>
              <a:t> </a:t>
            </a:r>
            <a:r>
              <a:rPr sz="2133" dirty="0" err="1"/>
              <a:t>Дополнительно</a:t>
            </a:r>
            <a:r>
              <a:rPr sz="2133" dirty="0"/>
              <a:t>:</a:t>
            </a:r>
            <a:br>
              <a:rPr sz="2133" dirty="0"/>
            </a:br>
            <a:r>
              <a:rPr sz="2133" dirty="0"/>
              <a:t>• Knowles — </a:t>
            </a:r>
            <a:r>
              <a:rPr sz="2133" dirty="0" err="1"/>
              <a:t>компромисс</a:t>
            </a:r>
            <a:r>
              <a:rPr sz="2133" dirty="0"/>
              <a:t> </a:t>
            </a:r>
            <a:r>
              <a:rPr sz="2133" dirty="0" err="1"/>
              <a:t>между</a:t>
            </a:r>
            <a:r>
              <a:rPr sz="2133" dirty="0"/>
              <a:t> </a:t>
            </a:r>
            <a:r>
              <a:rPr sz="2133" dirty="0" err="1"/>
              <a:t>Kogge</a:t>
            </a:r>
            <a:r>
              <a:rPr sz="2133" dirty="0"/>
              <a:t>–Stone и </a:t>
            </a:r>
            <a:r>
              <a:rPr sz="2133" dirty="0" err="1"/>
              <a:t>Sklansky</a:t>
            </a:r>
            <a:br>
              <a:rPr sz="2133" dirty="0"/>
            </a:br>
            <a:r>
              <a:rPr sz="2133" dirty="0"/>
              <a:t>• Ladner–Fischer — </a:t>
            </a:r>
            <a:r>
              <a:rPr sz="2133" dirty="0" err="1"/>
              <a:t>компромисс</a:t>
            </a:r>
            <a:r>
              <a:rPr sz="2133" dirty="0"/>
              <a:t> </a:t>
            </a:r>
            <a:r>
              <a:rPr sz="2133" dirty="0" err="1"/>
              <a:t>между</a:t>
            </a:r>
            <a:r>
              <a:rPr sz="2133" dirty="0"/>
              <a:t> Brent–Kung и </a:t>
            </a:r>
            <a:r>
              <a:rPr sz="2133" dirty="0" err="1"/>
              <a:t>Sklansky</a:t>
            </a:r>
            <a:br>
              <a:rPr sz="2133" dirty="0"/>
            </a:br>
            <a:r>
              <a:rPr lang="ru-RU" sz="2133" dirty="0"/>
              <a:t> </a:t>
            </a:r>
            <a:r>
              <a:rPr sz="2133" dirty="0" err="1"/>
              <a:t>Сравнение</a:t>
            </a:r>
            <a:r>
              <a:rPr sz="2133" dirty="0"/>
              <a:t>:</a:t>
            </a:r>
            <a:br>
              <a:rPr sz="2133" dirty="0"/>
            </a:br>
            <a:r>
              <a:rPr sz="2133" dirty="0"/>
              <a:t>KSA — </a:t>
            </a:r>
            <a:r>
              <a:rPr sz="2133" dirty="0" err="1"/>
              <a:t>макс</a:t>
            </a:r>
            <a:r>
              <a:rPr sz="2133" dirty="0"/>
              <a:t>. </a:t>
            </a:r>
            <a:r>
              <a:rPr sz="2133" dirty="0" err="1"/>
              <a:t>скорость</a:t>
            </a:r>
            <a:br>
              <a:rPr sz="2133" dirty="0"/>
            </a:br>
            <a:r>
              <a:rPr sz="2133" dirty="0"/>
              <a:t>BKA — </a:t>
            </a:r>
            <a:r>
              <a:rPr sz="2133" dirty="0" err="1"/>
              <a:t>мин</a:t>
            </a:r>
            <a:r>
              <a:rPr sz="2133" dirty="0"/>
              <a:t>. </a:t>
            </a:r>
            <a:r>
              <a:rPr sz="2133" dirty="0" err="1"/>
              <a:t>площадь</a:t>
            </a:r>
            <a:br>
              <a:rPr sz="2133" dirty="0"/>
            </a:br>
            <a:r>
              <a:rPr sz="2133" dirty="0"/>
              <a:t>HCA — </a:t>
            </a:r>
            <a:r>
              <a:rPr sz="2133" dirty="0" err="1"/>
              <a:t>компромисс</a:t>
            </a:r>
            <a:br>
              <a:rPr sz="2133" dirty="0"/>
            </a:br>
            <a:r>
              <a:rPr sz="2133" dirty="0"/>
              <a:t>Knowles/LF — </a:t>
            </a:r>
            <a:r>
              <a:rPr sz="2133" dirty="0" err="1"/>
              <a:t>промежуточные</a:t>
            </a:r>
            <a:r>
              <a:rPr sz="2133" dirty="0"/>
              <a:t> </a:t>
            </a:r>
            <a:r>
              <a:rPr sz="2133" dirty="0" err="1"/>
              <a:t>варианты</a:t>
            </a:r>
            <a:endParaRPr sz="2133" dirty="0"/>
          </a:p>
        </p:txBody>
      </p:sp>
    </p:spTree>
    <p:extLst>
      <p:ext uri="{BB962C8B-B14F-4D97-AF65-F5344CB8AC3E}">
        <p14:creationId xmlns:p14="http://schemas.microsoft.com/office/powerpoint/2010/main" val="14390631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800" dirty="0" err="1"/>
              <a:t>Компрессор</a:t>
            </a:r>
            <a:r>
              <a:rPr sz="4800" dirty="0"/>
              <a:t> 3:2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133" dirty="0" err="1"/>
              <a:t>Принимает</a:t>
            </a:r>
            <a:r>
              <a:rPr sz="2133" dirty="0"/>
              <a:t> </a:t>
            </a:r>
            <a:r>
              <a:rPr sz="2133" dirty="0" err="1"/>
              <a:t>три</a:t>
            </a:r>
            <a:r>
              <a:rPr sz="2133" dirty="0"/>
              <a:t> </a:t>
            </a:r>
            <a:r>
              <a:rPr sz="2133" dirty="0" err="1"/>
              <a:t>входных</a:t>
            </a:r>
            <a:r>
              <a:rPr sz="2133" dirty="0"/>
              <a:t> </a:t>
            </a:r>
            <a:r>
              <a:rPr sz="2133" dirty="0" err="1"/>
              <a:t>бита</a:t>
            </a:r>
            <a:r>
              <a:rPr sz="2133" dirty="0"/>
              <a:t> и </a:t>
            </a:r>
            <a:r>
              <a:rPr sz="2133" dirty="0" err="1"/>
              <a:t>формирует</a:t>
            </a:r>
            <a:r>
              <a:rPr sz="2133" dirty="0"/>
              <a:t> </a:t>
            </a:r>
            <a:r>
              <a:rPr sz="2133" dirty="0" err="1"/>
              <a:t>два</a:t>
            </a:r>
            <a:r>
              <a:rPr sz="2133" dirty="0"/>
              <a:t> </a:t>
            </a:r>
            <a:r>
              <a:rPr sz="2133" dirty="0" err="1"/>
              <a:t>выхода</a:t>
            </a:r>
            <a:r>
              <a:rPr sz="2133" dirty="0"/>
              <a:t>: Sum и Carry.</a:t>
            </a:r>
          </a:p>
          <a:p>
            <a:pPr marL="0" indent="0">
              <a:buNone/>
              <a:defRPr sz="2200"/>
            </a:pPr>
            <a:r>
              <a:rPr sz="2133" dirty="0" err="1"/>
              <a:t>Эквивалентен</a:t>
            </a:r>
            <a:r>
              <a:rPr sz="2133" dirty="0"/>
              <a:t> </a:t>
            </a:r>
            <a:r>
              <a:rPr sz="2133" dirty="0" err="1"/>
              <a:t>полному</a:t>
            </a:r>
            <a:r>
              <a:rPr sz="2133" dirty="0"/>
              <a:t> </a:t>
            </a:r>
            <a:r>
              <a:rPr sz="2133" dirty="0" err="1"/>
              <a:t>сумматору</a:t>
            </a:r>
            <a:r>
              <a:rPr sz="2133" dirty="0"/>
              <a:t> (Full Adder).</a:t>
            </a:r>
          </a:p>
          <a:p>
            <a:pPr marL="0" indent="0">
              <a:buNone/>
              <a:defRPr sz="2200"/>
            </a:pPr>
            <a:r>
              <a:rPr sz="2133" dirty="0" err="1"/>
              <a:t>Используется</a:t>
            </a:r>
            <a:r>
              <a:rPr sz="2133" dirty="0"/>
              <a:t> в </a:t>
            </a:r>
            <a:r>
              <a:rPr sz="2133" dirty="0" err="1"/>
              <a:t>деревьях</a:t>
            </a:r>
            <a:r>
              <a:rPr sz="2133" dirty="0"/>
              <a:t> Wallace и </a:t>
            </a:r>
            <a:r>
              <a:rPr sz="2133" dirty="0" err="1"/>
              <a:t>Dadda</a:t>
            </a:r>
            <a:r>
              <a:rPr sz="2133" dirty="0"/>
              <a:t>.</a:t>
            </a:r>
          </a:p>
          <a:p>
            <a:pPr marL="0" indent="0">
              <a:buNone/>
              <a:defRPr sz="2200"/>
            </a:pPr>
            <a:r>
              <a:rPr sz="2133" dirty="0" err="1"/>
              <a:t>Сокращает</a:t>
            </a:r>
            <a:r>
              <a:rPr sz="2133" dirty="0"/>
              <a:t> </a:t>
            </a:r>
            <a:r>
              <a:rPr sz="2133" dirty="0" err="1"/>
              <a:t>число</a:t>
            </a:r>
            <a:r>
              <a:rPr sz="2133" dirty="0"/>
              <a:t> </a:t>
            </a:r>
            <a:r>
              <a:rPr sz="2133" dirty="0" err="1"/>
              <a:t>уровней</a:t>
            </a:r>
            <a:r>
              <a:rPr sz="2133" dirty="0"/>
              <a:t> </a:t>
            </a:r>
            <a:r>
              <a:rPr sz="2133" dirty="0" err="1"/>
              <a:t>сложения</a:t>
            </a:r>
            <a:r>
              <a:rPr sz="2133" dirty="0"/>
              <a:t> </a:t>
            </a:r>
            <a:r>
              <a:rPr sz="2133" dirty="0" err="1"/>
              <a:t>перед</a:t>
            </a:r>
            <a:r>
              <a:rPr sz="2133" dirty="0"/>
              <a:t> </a:t>
            </a:r>
            <a:r>
              <a:rPr sz="2133" dirty="0" err="1"/>
              <a:t>финальным</a:t>
            </a:r>
            <a:r>
              <a:rPr sz="2133" dirty="0"/>
              <a:t> </a:t>
            </a:r>
            <a:r>
              <a:rPr sz="2133" dirty="0" err="1"/>
              <a:t>сумматором</a:t>
            </a:r>
            <a:r>
              <a:rPr sz="2133"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1940</TotalTime>
  <Words>666</Words>
  <Application>Microsoft Office PowerPoint</Application>
  <PresentationFormat>Широкоэкранный</PresentationFormat>
  <Paragraphs>185</Paragraphs>
  <Slides>22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Тема Office</vt:lpstr>
      <vt:lpstr>Созвон 4</vt:lpstr>
      <vt:lpstr>Сложение</vt:lpstr>
      <vt:lpstr>Сложение</vt:lpstr>
      <vt:lpstr>Умножение</vt:lpstr>
      <vt:lpstr>Умножение</vt:lpstr>
      <vt:lpstr>Умножение</vt:lpstr>
      <vt:lpstr>КИХ-фильтр</vt:lpstr>
      <vt:lpstr>КИХ-фильтр</vt:lpstr>
      <vt:lpstr>Полифазный фильтр</vt:lpstr>
      <vt:lpstr>Полифазный фильтр</vt:lpstr>
      <vt:lpstr>Полифазный фильтр (исправление)</vt:lpstr>
      <vt:lpstr>Полифазный фильтр</vt:lpstr>
      <vt:lpstr>Полифазный фильтр</vt:lpstr>
      <vt:lpstr>Полифазный фильтр</vt:lpstr>
      <vt:lpstr>Полифазный фильтр (дерево сумматоров)</vt:lpstr>
      <vt:lpstr>Обзор архитектур сумматоров</vt:lpstr>
      <vt:lpstr>Обзор архитектур сумматоров</vt:lpstr>
      <vt:lpstr>Обзор архитектур сумматоров</vt:lpstr>
      <vt:lpstr>Параллельные префиксные сумматоры: Оператор префикса </vt:lpstr>
      <vt:lpstr>Параллельные префиксные сумматоры</vt:lpstr>
      <vt:lpstr>Параллельные префиксные сумматоры</vt:lpstr>
      <vt:lpstr>Компрессор 3:2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Созвон 1</dc:title>
  <dc:creator>Hoffnung</dc:creator>
  <cp:lastModifiedBy>Hoffnung</cp:lastModifiedBy>
  <cp:revision>164</cp:revision>
  <dcterms:created xsi:type="dcterms:W3CDTF">2026-05-19T07:44:43Z</dcterms:created>
  <dcterms:modified xsi:type="dcterms:W3CDTF">2026-07-29T08:54:03Z</dcterms:modified>
</cp:coreProperties>
</file>